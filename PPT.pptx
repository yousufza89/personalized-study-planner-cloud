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notesSlides/notesSlide2.xml" ContentType="application/vnd.openxmlformats-officedocument.presentationml.notesSlide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image" Target="../media/image2.png"/><Relationship Id="rId5" Type="http://schemas.openxmlformats.org/officeDocument/2006/relationships/tags" Target="../tags/tag5.xml"/><Relationship Id="rId10" Type="http://schemas.openxmlformats.org/officeDocument/2006/relationships/notesSlide" Target="../notesSlides/notesSlide2.xml"/><Relationship Id="rId4" Type="http://schemas.openxmlformats.org/officeDocument/2006/relationships/tags" Target="../tags/tag4.xml"/><Relationship Id="rId9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tags" Target="../tags/tag16.xml"/><Relationship Id="rId3" Type="http://schemas.openxmlformats.org/officeDocument/2006/relationships/tags" Target="../tags/tag11.xml"/><Relationship Id="rId7" Type="http://schemas.openxmlformats.org/officeDocument/2006/relationships/tags" Target="../tags/tag15.xml"/><Relationship Id="rId12" Type="http://schemas.openxmlformats.org/officeDocument/2006/relationships/notesSlide" Target="../notesSlides/notesSlide3.xml"/><Relationship Id="rId2" Type="http://schemas.openxmlformats.org/officeDocument/2006/relationships/tags" Target="../tags/tag10.xml"/><Relationship Id="rId1" Type="http://schemas.openxmlformats.org/officeDocument/2006/relationships/tags" Target="../tags/tag9.xml"/><Relationship Id="rId6" Type="http://schemas.openxmlformats.org/officeDocument/2006/relationships/tags" Target="../tags/tag14.xml"/><Relationship Id="rId11" Type="http://schemas.openxmlformats.org/officeDocument/2006/relationships/slideLayout" Target="../slideLayouts/slideLayout1.xml"/><Relationship Id="rId5" Type="http://schemas.openxmlformats.org/officeDocument/2006/relationships/tags" Target="../tags/tag13.xml"/><Relationship Id="rId10" Type="http://schemas.openxmlformats.org/officeDocument/2006/relationships/tags" Target="../tags/tag18.xml"/><Relationship Id="rId4" Type="http://schemas.openxmlformats.org/officeDocument/2006/relationships/tags" Target="../tags/tag12.xml"/><Relationship Id="rId9" Type="http://schemas.openxmlformats.org/officeDocument/2006/relationships/tags" Target="../tags/tag1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1455037"/>
            <a:ext cx="3714750" cy="164585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4300"/>
              </a:lnSpc>
              <a:buNone/>
            </a:pPr>
            <a:r>
              <a:rPr lang="en-US" sz="3295" b="1" dirty="0">
                <a:solidFill>
                  <a:srgbClr val="1A1A1A"/>
                </a:solidFill>
              </a:rPr>
              <a:t>Personalized Study Planner on the Cloud</a:t>
            </a:r>
            <a:endParaRPr lang="en-US" sz="3295" dirty="0"/>
          </a:p>
        </p:txBody>
      </p:sp>
      <p:sp>
        <p:nvSpPr>
          <p:cNvPr id="4" name="Text 1"/>
          <p:cNvSpPr/>
          <p:nvPr/>
        </p:nvSpPr>
        <p:spPr>
          <a:xfrm>
            <a:off x="571500" y="3243765"/>
            <a:ext cx="3101141" cy="27324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5" b="1" dirty="0">
                <a:solidFill>
                  <a:srgbClr val="0052CC"/>
                </a:solidFill>
              </a:rPr>
              <a:t>Utilizing Microsoft Azure Services</a:t>
            </a:r>
            <a:endParaRPr lang="en-US" sz="1395" dirty="0"/>
          </a:p>
        </p:txBody>
      </p:sp>
      <p:sp>
        <p:nvSpPr>
          <p:cNvPr id="5" name="Shape 2"/>
          <p:cNvSpPr/>
          <p:nvPr/>
        </p:nvSpPr>
        <p:spPr>
          <a:xfrm>
            <a:off x="4572000" y="653123"/>
            <a:ext cx="4572000" cy="3837226"/>
          </a:xfrm>
          <a:prstGeom prst="rect">
            <a:avLst/>
          </a:prstGeom>
          <a:solidFill>
            <a:srgbClr val="0052CC">
              <a:alpha val="5000"/>
            </a:srgbClr>
          </a:solidFill>
        </p:spPr>
        <p:txBody>
          <a:bodyPr/>
          <a:lstStyle/>
          <a:p>
            <a:endParaRPr lang="en-US" sz="2800"/>
          </a:p>
        </p:txBody>
      </p:sp>
      <p:sp>
        <p:nvSpPr>
          <p:cNvPr id="6" name="Shape 3"/>
          <p:cNvSpPr/>
          <p:nvPr/>
        </p:nvSpPr>
        <p:spPr>
          <a:xfrm>
            <a:off x="4572000" y="653123"/>
            <a:ext cx="28575" cy="3837226"/>
          </a:xfrm>
          <a:prstGeom prst="rect">
            <a:avLst/>
          </a:prstGeom>
          <a:solidFill>
            <a:srgbClr val="0052CC"/>
          </a:solidFill>
        </p:spPr>
        <p:txBody>
          <a:bodyPr/>
          <a:lstStyle/>
          <a:p>
            <a:endParaRPr lang="en-US" sz="2800"/>
          </a:p>
        </p:txBody>
      </p:sp>
      <p:sp>
        <p:nvSpPr>
          <p:cNvPr id="7" name="Text 4"/>
          <p:cNvSpPr/>
          <p:nvPr/>
        </p:nvSpPr>
        <p:spPr>
          <a:xfrm>
            <a:off x="4857750" y="1081748"/>
            <a:ext cx="581660" cy="10223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1600" b="1" kern="0" spc="1" dirty="0">
                <a:solidFill>
                  <a:srgbClr val="333333"/>
                </a:solidFill>
              </a:rPr>
              <a:t>Course</a:t>
            </a:r>
          </a:p>
        </p:txBody>
      </p:sp>
      <p:sp>
        <p:nvSpPr>
          <p:cNvPr id="8" name="Text 5"/>
          <p:cNvSpPr/>
          <p:nvPr/>
        </p:nvSpPr>
        <p:spPr>
          <a:xfrm>
            <a:off x="4857750" y="1254984"/>
            <a:ext cx="3058160" cy="17907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400" b="1" dirty="0">
                <a:solidFill>
                  <a:srgbClr val="1A1A1A"/>
                </a:solidFill>
              </a:rPr>
              <a:t>CS4037: Introduction to Cloud Computing</a:t>
            </a:r>
          </a:p>
        </p:txBody>
      </p:sp>
      <p:sp>
        <p:nvSpPr>
          <p:cNvPr id="9" name="Text 6"/>
          <p:cNvSpPr/>
          <p:nvPr/>
        </p:nvSpPr>
        <p:spPr>
          <a:xfrm>
            <a:off x="4857750" y="1712184"/>
            <a:ext cx="833755" cy="10223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1600" b="1" kern="0" spc="1" dirty="0">
                <a:solidFill>
                  <a:srgbClr val="333333"/>
                </a:solidFill>
              </a:rPr>
              <a:t>Instructor</a:t>
            </a:r>
            <a:endParaRPr lang="en-US" sz="800" b="1" kern="0" spc="1" dirty="0">
              <a:solidFill>
                <a:srgbClr val="333333"/>
              </a:solidFill>
            </a:endParaRPr>
          </a:p>
        </p:txBody>
      </p:sp>
      <p:sp>
        <p:nvSpPr>
          <p:cNvPr id="10" name="Text 7"/>
          <p:cNvSpPr/>
          <p:nvPr/>
        </p:nvSpPr>
        <p:spPr>
          <a:xfrm>
            <a:off x="4857750" y="1885420"/>
            <a:ext cx="1654175" cy="17907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400" b="1" dirty="0">
                <a:solidFill>
                  <a:srgbClr val="1A1A1A"/>
                </a:solidFill>
              </a:rPr>
              <a:t>Sir Muhammad Sudais</a:t>
            </a:r>
          </a:p>
        </p:txBody>
      </p:sp>
      <p:sp>
        <p:nvSpPr>
          <p:cNvPr id="11" name="Text 8"/>
          <p:cNvSpPr/>
          <p:nvPr/>
        </p:nvSpPr>
        <p:spPr>
          <a:xfrm>
            <a:off x="4857750" y="2342620"/>
            <a:ext cx="1385570" cy="10223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1600" b="1" kern="0" spc="1" dirty="0">
                <a:solidFill>
                  <a:srgbClr val="333333"/>
                </a:solidFill>
              </a:rPr>
              <a:t>Group Members</a:t>
            </a:r>
            <a:endParaRPr lang="en-US" sz="800" b="1" kern="0" spc="1" dirty="0">
              <a:solidFill>
                <a:srgbClr val="333333"/>
              </a:solidFill>
            </a:endParaRPr>
          </a:p>
        </p:txBody>
      </p:sp>
      <p:sp>
        <p:nvSpPr>
          <p:cNvPr id="12" name="Text 9"/>
          <p:cNvSpPr/>
          <p:nvPr/>
        </p:nvSpPr>
        <p:spPr>
          <a:xfrm>
            <a:off x="4857750" y="2637790"/>
            <a:ext cx="2423795" cy="143573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400" dirty="0">
                <a:solidFill>
                  <a:srgbClr val="333333"/>
                </a:solidFill>
              </a:rPr>
              <a:t> Saad Ahmed (22K4345)
 Muhammad Huzaifa (22K4223)
 Muhammad Yousuf (22K4457)
 Murtaza Johar (22K4508)
 Haseeb Mujtaba (22K4307)
 Ali Raza Shaikh (22K4313)
 Hunain Memon (22K5014)</a:t>
            </a:r>
            <a:br>
              <a:rPr lang="en-US" sz="1400" dirty="0">
                <a:solidFill>
                  <a:srgbClr val="333333"/>
                </a:solidFill>
              </a:rPr>
            </a:br>
            <a:r>
              <a:rPr lang="en-US" sz="1400" dirty="0">
                <a:solidFill>
                  <a:srgbClr val="333333"/>
                </a:solidFill>
              </a:rPr>
              <a:t> </a:t>
            </a:r>
            <a:r>
              <a:rPr lang="en-US" altLang="en-GB" sz="1400" dirty="0">
                <a:solidFill>
                  <a:srgbClr val="333333"/>
                </a:solidFill>
              </a:rPr>
              <a:t>Ali Asif (21K-4570)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571500"/>
            <a:ext cx="8001000" cy="93225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5" b="1" dirty="0">
                <a:solidFill>
                  <a:srgbClr val="0052CC"/>
                </a:solidFill>
              </a:rPr>
              <a:t>Enhancing Student Productivity through Cloud-Native Organization</a:t>
            </a:r>
            <a:endParaRPr lang="en-US" sz="2435" dirty="0"/>
          </a:p>
        </p:txBody>
      </p:sp>
      <p:sp>
        <p:nvSpPr>
          <p:cNvPr id="4" name="Text 1"/>
          <p:cNvSpPr/>
          <p:nvPr>
            <p:custDataLst>
              <p:tags r:id="rId1"/>
            </p:custDataLst>
          </p:nvPr>
        </p:nvSpPr>
        <p:spPr>
          <a:xfrm>
            <a:off x="571500" y="2096691"/>
            <a:ext cx="1457707" cy="133947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1400" b="1" kern="0" spc="1" dirty="0">
                <a:solidFill>
                  <a:srgbClr val="0052CC"/>
                </a:solidFill>
              </a:rPr>
              <a:t>Problem Statement</a:t>
            </a:r>
          </a:p>
        </p:txBody>
      </p:sp>
      <p:sp>
        <p:nvSpPr>
          <p:cNvPr id="5" name="Text 2"/>
          <p:cNvSpPr/>
          <p:nvPr>
            <p:custDataLst>
              <p:tags r:id="rId2"/>
            </p:custDataLst>
          </p:nvPr>
        </p:nvSpPr>
        <p:spPr>
          <a:xfrm>
            <a:off x="571500" y="2318147"/>
            <a:ext cx="3786188" cy="53848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200" dirty="0">
                <a:solidFill>
                  <a:srgbClr val="333333"/>
                </a:solidFill>
              </a:rPr>
              <a:t>Students face challenges in managing diverse study materials, schedules, and deadlines across multiple platforms, leading to fragmented workflows and reduced productivity.</a:t>
            </a:r>
          </a:p>
        </p:txBody>
      </p:sp>
      <p:sp>
        <p:nvSpPr>
          <p:cNvPr id="6" name="Text 3"/>
          <p:cNvSpPr/>
          <p:nvPr>
            <p:custDataLst>
              <p:tags r:id="rId3"/>
            </p:custDataLst>
          </p:nvPr>
        </p:nvSpPr>
        <p:spPr>
          <a:xfrm>
            <a:off x="4786313" y="2096691"/>
            <a:ext cx="1377557" cy="133947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1400" b="1" kern="0" spc="1" dirty="0">
                <a:solidFill>
                  <a:srgbClr val="0052CC"/>
                </a:solidFill>
              </a:rPr>
              <a:t>Solution Overview</a:t>
            </a:r>
          </a:p>
        </p:txBody>
      </p:sp>
      <p:sp>
        <p:nvSpPr>
          <p:cNvPr id="7" name="Text 4"/>
          <p:cNvSpPr/>
          <p:nvPr>
            <p:custDataLst>
              <p:tags r:id="rId4"/>
            </p:custDataLst>
          </p:nvPr>
        </p:nvSpPr>
        <p:spPr>
          <a:xfrm>
            <a:off x="4786313" y="2318147"/>
            <a:ext cx="3786188" cy="53848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200" dirty="0">
                <a:solidFill>
                  <a:srgbClr val="333333"/>
                </a:solidFill>
              </a:rPr>
              <a:t>A centralized, web-based application to plan, organize, and track academic progress effectively, integrating all study resources in one accessible platform.</a:t>
            </a:r>
          </a:p>
        </p:txBody>
      </p:sp>
      <p:sp>
        <p:nvSpPr>
          <p:cNvPr id="8" name="Text 5"/>
          <p:cNvSpPr/>
          <p:nvPr>
            <p:custDataLst>
              <p:tags r:id="rId5"/>
            </p:custDataLst>
          </p:nvPr>
        </p:nvSpPr>
        <p:spPr>
          <a:xfrm>
            <a:off x="571500" y="3459668"/>
            <a:ext cx="1599156" cy="133947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1400" b="1" kern="0" spc="1" dirty="0">
                <a:solidFill>
                  <a:srgbClr val="0052CC"/>
                </a:solidFill>
              </a:rPr>
              <a:t>The Cloud Imperative</a:t>
            </a:r>
          </a:p>
        </p:txBody>
      </p:sp>
      <p:sp>
        <p:nvSpPr>
          <p:cNvPr id="9" name="Text 6"/>
          <p:cNvSpPr/>
          <p:nvPr>
            <p:custDataLst>
              <p:tags r:id="rId6"/>
            </p:custDataLst>
          </p:nvPr>
        </p:nvSpPr>
        <p:spPr>
          <a:xfrm>
            <a:off x="571500" y="3681124"/>
            <a:ext cx="3786188" cy="53848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200" dirty="0">
                <a:solidFill>
                  <a:srgbClr val="333333"/>
                </a:solidFill>
              </a:rPr>
              <a:t>Leveraging Microsoft Azure to ensure high availability, scalability, and robust security for a global user base, enabling seamless access from any device.</a:t>
            </a:r>
          </a:p>
        </p:txBody>
      </p:sp>
      <p:sp>
        <p:nvSpPr>
          <p:cNvPr id="10" name="Text 7"/>
          <p:cNvSpPr/>
          <p:nvPr>
            <p:custDataLst>
              <p:tags r:id="rId7"/>
            </p:custDataLst>
          </p:nvPr>
        </p:nvSpPr>
        <p:spPr>
          <a:xfrm>
            <a:off x="4786313" y="3459668"/>
            <a:ext cx="1350178" cy="133947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1400" b="1" kern="0" spc="1" dirty="0">
                <a:solidFill>
                  <a:srgbClr val="0052CC"/>
                </a:solidFill>
              </a:rPr>
              <a:t>Academic Context</a:t>
            </a:r>
          </a:p>
        </p:txBody>
      </p:sp>
      <p:sp>
        <p:nvSpPr>
          <p:cNvPr id="11" name="Text 8"/>
          <p:cNvSpPr/>
          <p:nvPr>
            <p:custDataLst>
              <p:tags r:id="rId8"/>
            </p:custDataLst>
          </p:nvPr>
        </p:nvSpPr>
        <p:spPr>
          <a:xfrm>
            <a:off x="4786313" y="3681124"/>
            <a:ext cx="3786188" cy="53848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200" dirty="0">
                <a:solidFill>
                  <a:srgbClr val="333333"/>
                </a:solidFill>
              </a:rPr>
              <a:t>A practical demonstration of core cloud computing principles and service integration, providing hands-on experience with enterprise-grade technologies.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71500" y="571500"/>
            <a:ext cx="8001000" cy="93225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5" b="1" dirty="0">
                <a:solidFill>
                  <a:srgbClr val="0052CC"/>
                </a:solidFill>
              </a:rPr>
              <a:t>Core Objectives: Demonstrating Cloud Proficiency and System Resilience</a:t>
            </a:r>
            <a:endParaRPr lang="en-US" sz="2435" dirty="0"/>
          </a:p>
        </p:txBody>
      </p:sp>
      <p:sp>
        <p:nvSpPr>
          <p:cNvPr id="4" name="Shape 1"/>
          <p:cNvSpPr/>
          <p:nvPr>
            <p:custDataLst>
              <p:tags r:id="rId1"/>
            </p:custDataLst>
          </p:nvPr>
        </p:nvSpPr>
        <p:spPr>
          <a:xfrm>
            <a:off x="571500" y="1932384"/>
            <a:ext cx="8001000" cy="3091681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>
            <p:custDataLst>
              <p:tags r:id="rId2"/>
            </p:custDataLst>
          </p:nvPr>
        </p:nvSpPr>
        <p:spPr>
          <a:xfrm>
            <a:off x="571500" y="1603454"/>
            <a:ext cx="42863" cy="3091681"/>
          </a:xfrm>
          <a:prstGeom prst="rect">
            <a:avLst/>
          </a:prstGeom>
          <a:solidFill>
            <a:srgbClr val="0052CC"/>
          </a:solidFill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>
            <p:custDataLst>
              <p:tags r:id="rId3"/>
            </p:custDataLst>
          </p:nvPr>
        </p:nvSpPr>
        <p:spPr>
          <a:xfrm>
            <a:off x="857250" y="1665684"/>
            <a:ext cx="1933093" cy="133947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1400" b="1" kern="0" spc="1" dirty="0">
                <a:solidFill>
                  <a:srgbClr val="0052CC"/>
                </a:solidFill>
              </a:rPr>
              <a:t>01. Technical Deployment</a:t>
            </a:r>
          </a:p>
        </p:txBody>
      </p:sp>
      <p:sp>
        <p:nvSpPr>
          <p:cNvPr id="7" name="Text 4"/>
          <p:cNvSpPr/>
          <p:nvPr>
            <p:custDataLst>
              <p:tags r:id="rId4"/>
            </p:custDataLst>
          </p:nvPr>
        </p:nvSpPr>
        <p:spPr>
          <a:xfrm>
            <a:off x="857250" y="1858566"/>
            <a:ext cx="7715250" cy="35877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200" dirty="0">
                <a:solidFill>
                  <a:srgbClr val="333333"/>
                </a:solidFill>
              </a:rPr>
              <a:t>Design and deploy a full-stack web application using Azure App Service, demonstrating proficiency in cloud platform selection and configuration for production environments.</a:t>
            </a:r>
          </a:p>
        </p:txBody>
      </p:sp>
      <p:sp>
        <p:nvSpPr>
          <p:cNvPr id="8" name="Text 5"/>
          <p:cNvSpPr/>
          <p:nvPr>
            <p:custDataLst>
              <p:tags r:id="rId5"/>
            </p:custDataLst>
          </p:nvPr>
        </p:nvSpPr>
        <p:spPr>
          <a:xfrm>
            <a:off x="857250" y="2510042"/>
            <a:ext cx="1681294" cy="133947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1400" b="1" kern="0" spc="1" dirty="0">
                <a:solidFill>
                  <a:srgbClr val="0052CC"/>
                </a:solidFill>
              </a:rPr>
              <a:t>02. Service Integration</a:t>
            </a:r>
          </a:p>
        </p:txBody>
      </p:sp>
      <p:sp>
        <p:nvSpPr>
          <p:cNvPr id="9" name="Text 6"/>
          <p:cNvSpPr/>
          <p:nvPr>
            <p:custDataLst>
              <p:tags r:id="rId6"/>
            </p:custDataLst>
          </p:nvPr>
        </p:nvSpPr>
        <p:spPr>
          <a:xfrm>
            <a:off x="857250" y="2702923"/>
            <a:ext cx="7715250" cy="35877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200" dirty="0">
                <a:solidFill>
                  <a:srgbClr val="333333"/>
                </a:solidFill>
              </a:rPr>
              <a:t>Practical application and integration of five or more core Azure services spanning compute, storage, database, security, and monitoring domains.</a:t>
            </a:r>
          </a:p>
        </p:txBody>
      </p:sp>
      <p:sp>
        <p:nvSpPr>
          <p:cNvPr id="10" name="Text 7"/>
          <p:cNvSpPr/>
          <p:nvPr>
            <p:custDataLst>
              <p:tags r:id="rId7"/>
            </p:custDataLst>
          </p:nvPr>
        </p:nvSpPr>
        <p:spPr>
          <a:xfrm>
            <a:off x="857250" y="3354400"/>
            <a:ext cx="1989712" cy="133947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1400" b="1" kern="0" spc="1" dirty="0">
                <a:solidFill>
                  <a:srgbClr val="0052CC"/>
                </a:solidFill>
              </a:rPr>
              <a:t>03. Scalability &amp; Resilience</a:t>
            </a:r>
          </a:p>
        </p:txBody>
      </p:sp>
      <p:sp>
        <p:nvSpPr>
          <p:cNvPr id="11" name="Text 8"/>
          <p:cNvSpPr/>
          <p:nvPr>
            <p:custDataLst>
              <p:tags r:id="rId8"/>
            </p:custDataLst>
          </p:nvPr>
        </p:nvSpPr>
        <p:spPr>
          <a:xfrm>
            <a:off x="857250" y="3547281"/>
            <a:ext cx="7715250" cy="35877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200" dirty="0">
                <a:solidFill>
                  <a:srgbClr val="333333"/>
                </a:solidFill>
              </a:rPr>
              <a:t>Implementing an architecture capable of supporting 100+ concurrent users with a 99.95% uptime Service Level Agreement (SLA), ensuring reliability and performance under load.</a:t>
            </a:r>
          </a:p>
        </p:txBody>
      </p:sp>
      <p:sp>
        <p:nvSpPr>
          <p:cNvPr id="12" name="Text 9"/>
          <p:cNvSpPr/>
          <p:nvPr>
            <p:custDataLst>
              <p:tags r:id="rId9"/>
            </p:custDataLst>
          </p:nvPr>
        </p:nvSpPr>
        <p:spPr>
          <a:xfrm>
            <a:off x="857250" y="4198758"/>
            <a:ext cx="2124236" cy="133947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1400" b="1" kern="0" spc="1" dirty="0">
                <a:solidFill>
                  <a:srgbClr val="0052CC"/>
                </a:solidFill>
              </a:rPr>
              <a:t>04. Security Implementation</a:t>
            </a:r>
          </a:p>
        </p:txBody>
      </p:sp>
      <p:sp>
        <p:nvSpPr>
          <p:cNvPr id="13" name="Text 10"/>
          <p:cNvSpPr/>
          <p:nvPr>
            <p:custDataLst>
              <p:tags r:id="rId10"/>
            </p:custDataLst>
          </p:nvPr>
        </p:nvSpPr>
        <p:spPr>
          <a:xfrm>
            <a:off x="857250" y="4391639"/>
            <a:ext cx="7715250" cy="35877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200" dirty="0">
                <a:solidFill>
                  <a:srgbClr val="333333"/>
                </a:solidFill>
              </a:rPr>
              <a:t>Utilizing Azure Active Directory (AAD) for secure authentication and implementing role-based access control (RBAC) to protect user data and application resources.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571500"/>
            <a:ext cx="8286750" cy="93225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5" b="1" dirty="0">
                <a:solidFill>
                  <a:srgbClr val="0052CC"/>
                </a:solidFill>
              </a:rPr>
              <a:t>A Three-Tiered, Serverless-Augmented Cloud Architecture</a:t>
            </a:r>
            <a:endParaRPr lang="en-US" sz="2435" dirty="0"/>
          </a:p>
        </p:txBody>
      </p:sp>
      <p:sp>
        <p:nvSpPr>
          <p:cNvPr id="4" name="Shape 1"/>
          <p:cNvSpPr/>
          <p:nvPr/>
        </p:nvSpPr>
        <p:spPr>
          <a:xfrm>
            <a:off x="428625" y="1703784"/>
            <a:ext cx="2571750" cy="2740326"/>
          </a:xfrm>
          <a:prstGeom prst="rect">
            <a:avLst/>
          </a:prstGeom>
          <a:solidFill>
            <a:srgbClr val="F0F2F5"/>
          </a:solidFill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428625" y="1703784"/>
            <a:ext cx="2571750" cy="42863"/>
          </a:xfrm>
          <a:prstGeom prst="rect">
            <a:avLst/>
          </a:prstGeom>
          <a:solidFill>
            <a:srgbClr val="0052CC"/>
          </a:solidFill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600075" y="1875234"/>
            <a:ext cx="2228850" cy="3429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590" dirty="0">
                <a:solidFill>
                  <a:srgbClr val="000000">
                    <a:alpha val="20000"/>
                  </a:srgbClr>
                </a:solidFill>
              </a:rPr>
              <a:t>🎨</a:t>
            </a:r>
            <a:endParaRPr lang="en-US" sz="2590" dirty="0"/>
          </a:p>
        </p:txBody>
      </p:sp>
      <p:sp>
        <p:nvSpPr>
          <p:cNvPr id="7" name="Text 4"/>
          <p:cNvSpPr/>
          <p:nvPr/>
        </p:nvSpPr>
        <p:spPr>
          <a:xfrm>
            <a:off x="600075" y="2303859"/>
            <a:ext cx="1389380" cy="15367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400" b="1" kern="0" spc="1" dirty="0">
                <a:solidFill>
                  <a:srgbClr val="0052CC"/>
                </a:solidFill>
              </a:rPr>
              <a:t>Presentation Layer</a:t>
            </a:r>
          </a:p>
        </p:txBody>
      </p:sp>
      <p:sp>
        <p:nvSpPr>
          <p:cNvPr id="8" name="Text 5"/>
          <p:cNvSpPr/>
          <p:nvPr/>
        </p:nvSpPr>
        <p:spPr>
          <a:xfrm>
            <a:off x="600075" y="2578894"/>
            <a:ext cx="1425575" cy="14097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1200" i="1" dirty="0">
                <a:solidFill>
                  <a:srgbClr val="333333"/>
                </a:solidFill>
              </a:rPr>
              <a:t>Frontend user interface</a:t>
            </a:r>
          </a:p>
        </p:txBody>
      </p:sp>
      <p:sp>
        <p:nvSpPr>
          <p:cNvPr id="9" name="Text 6"/>
          <p:cNvSpPr/>
          <p:nvPr/>
        </p:nvSpPr>
        <p:spPr>
          <a:xfrm>
            <a:off x="600075" y="2890345"/>
            <a:ext cx="828675" cy="11493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1200" b="1" kern="0" spc="1" dirty="0">
                <a:solidFill>
                  <a:srgbClr val="1A1A1A"/>
                </a:solidFill>
              </a:rPr>
              <a:t>Technologies</a:t>
            </a:r>
          </a:p>
        </p:txBody>
      </p:sp>
      <p:sp>
        <p:nvSpPr>
          <p:cNvPr id="10" name="Text 7"/>
          <p:cNvSpPr/>
          <p:nvPr/>
        </p:nvSpPr>
        <p:spPr>
          <a:xfrm>
            <a:off x="600075" y="3088584"/>
            <a:ext cx="753745" cy="127635"/>
          </a:xfrm>
          <a:prstGeom prst="rect">
            <a:avLst/>
          </a:prstGeom>
          <a:noFill/>
        </p:spPr>
        <p:txBody>
          <a:bodyPr wrap="none" lIns="127508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1200" b="1" dirty="0">
                <a:solidFill>
                  <a:srgbClr val="1A1A1A"/>
                </a:solidFill>
              </a:rPr>
              <a:t>Next.js 16</a:t>
            </a:r>
          </a:p>
        </p:txBody>
      </p:sp>
      <p:sp>
        <p:nvSpPr>
          <p:cNvPr id="11" name="Text 8"/>
          <p:cNvSpPr/>
          <p:nvPr/>
        </p:nvSpPr>
        <p:spPr>
          <a:xfrm>
            <a:off x="600075" y="3260034"/>
            <a:ext cx="667385" cy="127635"/>
          </a:xfrm>
          <a:prstGeom prst="rect">
            <a:avLst/>
          </a:prstGeom>
          <a:noFill/>
        </p:spPr>
        <p:txBody>
          <a:bodyPr wrap="none" lIns="127508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1200" b="1" dirty="0">
                <a:solidFill>
                  <a:srgbClr val="1A1A1A"/>
                </a:solidFill>
              </a:rPr>
              <a:t>React 19</a:t>
            </a:r>
          </a:p>
        </p:txBody>
      </p:sp>
      <p:sp>
        <p:nvSpPr>
          <p:cNvPr id="12" name="Text 9"/>
          <p:cNvSpPr/>
          <p:nvPr/>
        </p:nvSpPr>
        <p:spPr>
          <a:xfrm>
            <a:off x="600075" y="3431484"/>
            <a:ext cx="913765" cy="127635"/>
          </a:xfrm>
          <a:prstGeom prst="rect">
            <a:avLst/>
          </a:prstGeom>
          <a:noFill/>
        </p:spPr>
        <p:txBody>
          <a:bodyPr wrap="none" lIns="127508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1200" b="1" dirty="0">
                <a:solidFill>
                  <a:srgbClr val="1A1A1A"/>
                </a:solidFill>
              </a:rPr>
              <a:t>Tailwind CSS</a:t>
            </a:r>
          </a:p>
        </p:txBody>
      </p:sp>
      <p:sp>
        <p:nvSpPr>
          <p:cNvPr id="13" name="Text 10"/>
          <p:cNvSpPr/>
          <p:nvPr/>
        </p:nvSpPr>
        <p:spPr>
          <a:xfrm>
            <a:off x="600075" y="3688659"/>
            <a:ext cx="878205" cy="11493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1200" b="1" kern="0" spc="1" dirty="0">
                <a:solidFill>
                  <a:srgbClr val="1A1A1A"/>
                </a:solidFill>
              </a:rPr>
              <a:t>Infrastructure</a:t>
            </a:r>
          </a:p>
        </p:txBody>
      </p:sp>
      <p:sp>
        <p:nvSpPr>
          <p:cNvPr id="14" name="Text 11"/>
          <p:cNvSpPr/>
          <p:nvPr/>
        </p:nvSpPr>
        <p:spPr>
          <a:xfrm>
            <a:off x="600075" y="3886898"/>
            <a:ext cx="1267460" cy="127635"/>
          </a:xfrm>
          <a:prstGeom prst="rect">
            <a:avLst/>
          </a:prstGeom>
          <a:noFill/>
        </p:spPr>
        <p:txBody>
          <a:bodyPr wrap="none" lIns="127508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1200" b="1" dirty="0">
                <a:solidFill>
                  <a:srgbClr val="1A1A1A"/>
                </a:solidFill>
              </a:rPr>
              <a:t>Azure App Service</a:t>
            </a:r>
          </a:p>
        </p:txBody>
      </p:sp>
      <p:sp>
        <p:nvSpPr>
          <p:cNvPr id="15" name="Text 12"/>
          <p:cNvSpPr/>
          <p:nvPr/>
        </p:nvSpPr>
        <p:spPr>
          <a:xfrm>
            <a:off x="600075" y="4058348"/>
            <a:ext cx="1566545" cy="127635"/>
          </a:xfrm>
          <a:prstGeom prst="rect">
            <a:avLst/>
          </a:prstGeom>
          <a:noFill/>
        </p:spPr>
        <p:txBody>
          <a:bodyPr wrap="none" lIns="127508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1200" b="1" dirty="0">
                <a:solidFill>
                  <a:srgbClr val="1A1A1A"/>
                </a:solidFill>
              </a:rPr>
              <a:t>Modern, responsive UI</a:t>
            </a:r>
          </a:p>
        </p:txBody>
      </p:sp>
      <p:sp>
        <p:nvSpPr>
          <p:cNvPr id="16" name="Shape 13"/>
          <p:cNvSpPr/>
          <p:nvPr/>
        </p:nvSpPr>
        <p:spPr>
          <a:xfrm>
            <a:off x="3286125" y="1703784"/>
            <a:ext cx="2571750" cy="2740326"/>
          </a:xfrm>
          <a:prstGeom prst="rect">
            <a:avLst/>
          </a:prstGeom>
          <a:solidFill>
            <a:srgbClr val="F0F2F5"/>
          </a:solidFill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3286125" y="1703784"/>
            <a:ext cx="2571750" cy="42863"/>
          </a:xfrm>
          <a:prstGeom prst="rect">
            <a:avLst/>
          </a:prstGeom>
          <a:solidFill>
            <a:srgbClr val="0052CC"/>
          </a:solidFill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600075" y="3088584"/>
            <a:ext cx="53578" cy="12858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735" b="1" dirty="0">
                <a:solidFill>
                  <a:srgbClr val="0052CC"/>
                </a:solidFill>
              </a:rPr>
              <a:t>▸</a:t>
            </a:r>
            <a:endParaRPr lang="en-US" sz="735" dirty="0"/>
          </a:p>
        </p:txBody>
      </p:sp>
      <p:sp>
        <p:nvSpPr>
          <p:cNvPr id="19" name="Text 16"/>
          <p:cNvSpPr/>
          <p:nvPr/>
        </p:nvSpPr>
        <p:spPr>
          <a:xfrm>
            <a:off x="600075" y="3260034"/>
            <a:ext cx="53578" cy="12858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735" b="1" dirty="0">
                <a:solidFill>
                  <a:srgbClr val="0052CC"/>
                </a:solidFill>
              </a:rPr>
              <a:t>▸</a:t>
            </a:r>
            <a:endParaRPr lang="en-US" sz="735" dirty="0"/>
          </a:p>
        </p:txBody>
      </p:sp>
      <p:sp>
        <p:nvSpPr>
          <p:cNvPr id="20" name="Text 17"/>
          <p:cNvSpPr/>
          <p:nvPr/>
        </p:nvSpPr>
        <p:spPr>
          <a:xfrm>
            <a:off x="600075" y="3431484"/>
            <a:ext cx="53578" cy="12858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735" b="1" dirty="0">
                <a:solidFill>
                  <a:srgbClr val="0052CC"/>
                </a:solidFill>
              </a:rPr>
              <a:t>▸</a:t>
            </a:r>
            <a:endParaRPr lang="en-US" sz="735" dirty="0"/>
          </a:p>
        </p:txBody>
      </p:sp>
      <p:sp>
        <p:nvSpPr>
          <p:cNvPr id="21" name="Text 18"/>
          <p:cNvSpPr/>
          <p:nvPr/>
        </p:nvSpPr>
        <p:spPr>
          <a:xfrm>
            <a:off x="600075" y="3886898"/>
            <a:ext cx="53578" cy="12858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735" b="1" dirty="0">
                <a:solidFill>
                  <a:srgbClr val="0052CC"/>
                </a:solidFill>
              </a:rPr>
              <a:t>▸</a:t>
            </a:r>
            <a:endParaRPr lang="en-US" sz="735" dirty="0"/>
          </a:p>
        </p:txBody>
      </p:sp>
      <p:sp>
        <p:nvSpPr>
          <p:cNvPr id="22" name="Text 19"/>
          <p:cNvSpPr/>
          <p:nvPr/>
        </p:nvSpPr>
        <p:spPr>
          <a:xfrm>
            <a:off x="600075" y="4058348"/>
            <a:ext cx="53578" cy="12858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735" b="1" dirty="0">
                <a:solidFill>
                  <a:srgbClr val="0052CC"/>
                </a:solidFill>
              </a:rPr>
              <a:t>▸</a:t>
            </a:r>
            <a:endParaRPr lang="en-US" sz="735" dirty="0"/>
          </a:p>
        </p:txBody>
      </p:sp>
      <p:sp>
        <p:nvSpPr>
          <p:cNvPr id="23" name="Text 20"/>
          <p:cNvSpPr/>
          <p:nvPr/>
        </p:nvSpPr>
        <p:spPr>
          <a:xfrm>
            <a:off x="3457575" y="1875234"/>
            <a:ext cx="2228850" cy="3429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590" dirty="0">
                <a:solidFill>
                  <a:srgbClr val="000000">
                    <a:alpha val="20000"/>
                  </a:srgbClr>
                </a:solidFill>
              </a:rPr>
              <a:t>⚙️</a:t>
            </a:r>
            <a:endParaRPr lang="en-US" sz="2590" dirty="0"/>
          </a:p>
        </p:txBody>
      </p:sp>
      <p:sp>
        <p:nvSpPr>
          <p:cNvPr id="24" name="Text 21"/>
          <p:cNvSpPr/>
          <p:nvPr/>
        </p:nvSpPr>
        <p:spPr>
          <a:xfrm>
            <a:off x="3457575" y="2303859"/>
            <a:ext cx="1284605" cy="15367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400" b="1" kern="0" spc="1" dirty="0">
                <a:solidFill>
                  <a:srgbClr val="0052CC"/>
                </a:solidFill>
              </a:rPr>
              <a:t>Application Layer</a:t>
            </a:r>
          </a:p>
        </p:txBody>
      </p:sp>
      <p:sp>
        <p:nvSpPr>
          <p:cNvPr id="25" name="Text 22"/>
          <p:cNvSpPr/>
          <p:nvPr/>
        </p:nvSpPr>
        <p:spPr>
          <a:xfrm>
            <a:off x="3457575" y="2578894"/>
            <a:ext cx="1550035" cy="14097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1200" i="1" dirty="0">
                <a:solidFill>
                  <a:srgbClr val="333333"/>
                </a:solidFill>
              </a:rPr>
              <a:t>Business logic and events</a:t>
            </a:r>
          </a:p>
        </p:txBody>
      </p:sp>
      <p:sp>
        <p:nvSpPr>
          <p:cNvPr id="26" name="Text 23"/>
          <p:cNvSpPr/>
          <p:nvPr/>
        </p:nvSpPr>
        <p:spPr>
          <a:xfrm>
            <a:off x="3457575" y="2890345"/>
            <a:ext cx="804545" cy="11493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1200" b="1" kern="0" spc="1" dirty="0">
                <a:solidFill>
                  <a:srgbClr val="1A1A1A"/>
                </a:solidFill>
              </a:rPr>
              <a:t>Components</a:t>
            </a:r>
          </a:p>
        </p:txBody>
      </p:sp>
      <p:sp>
        <p:nvSpPr>
          <p:cNvPr id="27" name="Text 24"/>
          <p:cNvSpPr/>
          <p:nvPr/>
        </p:nvSpPr>
        <p:spPr>
          <a:xfrm>
            <a:off x="3457575" y="3088584"/>
            <a:ext cx="810260" cy="127635"/>
          </a:xfrm>
          <a:prstGeom prst="rect">
            <a:avLst/>
          </a:prstGeom>
          <a:noFill/>
        </p:spPr>
        <p:txBody>
          <a:bodyPr wrap="none" lIns="127508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1200" b="1" dirty="0">
                <a:solidFill>
                  <a:srgbClr val="1A1A1A"/>
                </a:solidFill>
              </a:rPr>
              <a:t>API Routes</a:t>
            </a:r>
          </a:p>
        </p:txBody>
      </p:sp>
      <p:sp>
        <p:nvSpPr>
          <p:cNvPr id="28" name="Text 25"/>
          <p:cNvSpPr/>
          <p:nvPr/>
        </p:nvSpPr>
        <p:spPr>
          <a:xfrm>
            <a:off x="3457575" y="3260034"/>
            <a:ext cx="1135380" cy="127635"/>
          </a:xfrm>
          <a:prstGeom prst="rect">
            <a:avLst/>
          </a:prstGeom>
          <a:noFill/>
        </p:spPr>
        <p:txBody>
          <a:bodyPr wrap="none" lIns="127508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1200" b="1" dirty="0">
                <a:solidFill>
                  <a:srgbClr val="1A1A1A"/>
                </a:solidFill>
              </a:rPr>
              <a:t>Azure Functions</a:t>
            </a:r>
          </a:p>
        </p:txBody>
      </p:sp>
      <p:sp>
        <p:nvSpPr>
          <p:cNvPr id="29" name="Text 26"/>
          <p:cNvSpPr/>
          <p:nvPr/>
        </p:nvSpPr>
        <p:spPr>
          <a:xfrm>
            <a:off x="3457575" y="3431484"/>
            <a:ext cx="873125" cy="127635"/>
          </a:xfrm>
          <a:prstGeom prst="rect">
            <a:avLst/>
          </a:prstGeom>
          <a:noFill/>
        </p:spPr>
        <p:txBody>
          <a:bodyPr wrap="none" lIns="127508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1200" b="1" dirty="0">
                <a:solidFill>
                  <a:srgbClr val="1A1A1A"/>
                </a:solidFill>
              </a:rPr>
              <a:t>NextAuth.js</a:t>
            </a:r>
          </a:p>
        </p:txBody>
      </p:sp>
      <p:sp>
        <p:nvSpPr>
          <p:cNvPr id="30" name="Text 27"/>
          <p:cNvSpPr/>
          <p:nvPr/>
        </p:nvSpPr>
        <p:spPr>
          <a:xfrm>
            <a:off x="3457575" y="3688659"/>
            <a:ext cx="548005" cy="11493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1200" b="1" kern="0" spc="1" dirty="0">
                <a:solidFill>
                  <a:srgbClr val="1A1A1A"/>
                </a:solidFill>
              </a:rPr>
              <a:t>Features</a:t>
            </a:r>
          </a:p>
        </p:txBody>
      </p:sp>
      <p:sp>
        <p:nvSpPr>
          <p:cNvPr id="31" name="Text 28"/>
          <p:cNvSpPr/>
          <p:nvPr/>
        </p:nvSpPr>
        <p:spPr>
          <a:xfrm>
            <a:off x="3457575" y="3886898"/>
            <a:ext cx="1569720" cy="127635"/>
          </a:xfrm>
          <a:prstGeom prst="rect">
            <a:avLst/>
          </a:prstGeom>
          <a:noFill/>
        </p:spPr>
        <p:txBody>
          <a:bodyPr wrap="none" lIns="127508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1200" b="1" dirty="0">
                <a:solidFill>
                  <a:srgbClr val="1A1A1A"/>
                </a:solidFill>
              </a:rPr>
              <a:t>Schedule management</a:t>
            </a:r>
          </a:p>
        </p:txBody>
      </p:sp>
      <p:sp>
        <p:nvSpPr>
          <p:cNvPr id="32" name="Text 29"/>
          <p:cNvSpPr/>
          <p:nvPr/>
        </p:nvSpPr>
        <p:spPr>
          <a:xfrm>
            <a:off x="3457575" y="4058348"/>
            <a:ext cx="1123315" cy="127635"/>
          </a:xfrm>
          <a:prstGeom prst="rect">
            <a:avLst/>
          </a:prstGeom>
          <a:noFill/>
        </p:spPr>
        <p:txBody>
          <a:bodyPr wrap="none" lIns="127508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1200" b="1" dirty="0">
                <a:solidFill>
                  <a:srgbClr val="1A1A1A"/>
                </a:solidFill>
              </a:rPr>
              <a:t>Daily reminders</a:t>
            </a:r>
          </a:p>
        </p:txBody>
      </p:sp>
      <p:sp>
        <p:nvSpPr>
          <p:cNvPr id="33" name="Shape 30"/>
          <p:cNvSpPr/>
          <p:nvPr/>
        </p:nvSpPr>
        <p:spPr>
          <a:xfrm>
            <a:off x="6143625" y="1703784"/>
            <a:ext cx="2571750" cy="2697463"/>
          </a:xfrm>
          <a:prstGeom prst="rect">
            <a:avLst/>
          </a:prstGeom>
          <a:solidFill>
            <a:srgbClr val="F0F2F5"/>
          </a:solidFill>
        </p:spPr>
        <p:txBody>
          <a:bodyPr/>
          <a:lstStyle/>
          <a:p>
            <a:endParaRPr lang="en-US"/>
          </a:p>
        </p:txBody>
      </p:sp>
      <p:sp>
        <p:nvSpPr>
          <p:cNvPr id="34" name="Shape 31"/>
          <p:cNvSpPr/>
          <p:nvPr/>
        </p:nvSpPr>
        <p:spPr>
          <a:xfrm>
            <a:off x="6143625" y="1703784"/>
            <a:ext cx="2571750" cy="42863"/>
          </a:xfrm>
          <a:prstGeom prst="rect">
            <a:avLst/>
          </a:prstGeom>
          <a:solidFill>
            <a:srgbClr val="0052CC"/>
          </a:solidFill>
        </p:spPr>
        <p:txBody>
          <a:bodyPr/>
          <a:lstStyle/>
          <a:p>
            <a:endParaRPr lang="en-US"/>
          </a:p>
        </p:txBody>
      </p:sp>
      <p:sp>
        <p:nvSpPr>
          <p:cNvPr id="35" name="Text 32"/>
          <p:cNvSpPr/>
          <p:nvPr/>
        </p:nvSpPr>
        <p:spPr>
          <a:xfrm>
            <a:off x="3457575" y="3088584"/>
            <a:ext cx="53578" cy="12858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735" b="1" dirty="0">
                <a:solidFill>
                  <a:srgbClr val="0052CC"/>
                </a:solidFill>
              </a:rPr>
              <a:t>▸</a:t>
            </a:r>
            <a:endParaRPr lang="en-US" sz="735" dirty="0"/>
          </a:p>
        </p:txBody>
      </p:sp>
      <p:sp>
        <p:nvSpPr>
          <p:cNvPr id="36" name="Text 33"/>
          <p:cNvSpPr/>
          <p:nvPr/>
        </p:nvSpPr>
        <p:spPr>
          <a:xfrm>
            <a:off x="3457575" y="3260034"/>
            <a:ext cx="53578" cy="12858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735" b="1" dirty="0">
                <a:solidFill>
                  <a:srgbClr val="0052CC"/>
                </a:solidFill>
              </a:rPr>
              <a:t>▸</a:t>
            </a:r>
            <a:endParaRPr lang="en-US" sz="735" dirty="0"/>
          </a:p>
        </p:txBody>
      </p:sp>
      <p:sp>
        <p:nvSpPr>
          <p:cNvPr id="37" name="Text 34"/>
          <p:cNvSpPr/>
          <p:nvPr/>
        </p:nvSpPr>
        <p:spPr>
          <a:xfrm>
            <a:off x="3457575" y="3431484"/>
            <a:ext cx="53578" cy="12858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735" b="1" dirty="0">
                <a:solidFill>
                  <a:srgbClr val="0052CC"/>
                </a:solidFill>
              </a:rPr>
              <a:t>▸</a:t>
            </a:r>
            <a:endParaRPr lang="en-US" sz="735" dirty="0"/>
          </a:p>
        </p:txBody>
      </p:sp>
      <p:sp>
        <p:nvSpPr>
          <p:cNvPr id="38" name="Text 35"/>
          <p:cNvSpPr/>
          <p:nvPr/>
        </p:nvSpPr>
        <p:spPr>
          <a:xfrm>
            <a:off x="3457575" y="3886898"/>
            <a:ext cx="53578" cy="12858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735" b="1" dirty="0">
                <a:solidFill>
                  <a:srgbClr val="0052CC"/>
                </a:solidFill>
              </a:rPr>
              <a:t>▸</a:t>
            </a:r>
            <a:endParaRPr lang="en-US" sz="735" dirty="0"/>
          </a:p>
        </p:txBody>
      </p:sp>
      <p:sp>
        <p:nvSpPr>
          <p:cNvPr id="39" name="Text 36"/>
          <p:cNvSpPr/>
          <p:nvPr/>
        </p:nvSpPr>
        <p:spPr>
          <a:xfrm>
            <a:off x="3457575" y="4058348"/>
            <a:ext cx="53578" cy="12858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735" b="1" dirty="0">
                <a:solidFill>
                  <a:srgbClr val="0052CC"/>
                </a:solidFill>
              </a:rPr>
              <a:t>▸</a:t>
            </a:r>
            <a:endParaRPr lang="en-US" sz="735" dirty="0"/>
          </a:p>
        </p:txBody>
      </p:sp>
      <p:sp>
        <p:nvSpPr>
          <p:cNvPr id="40" name="Text 37"/>
          <p:cNvSpPr/>
          <p:nvPr/>
        </p:nvSpPr>
        <p:spPr>
          <a:xfrm>
            <a:off x="6315075" y="1875234"/>
            <a:ext cx="2228850" cy="3429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590" dirty="0">
                <a:solidFill>
                  <a:srgbClr val="000000">
                    <a:alpha val="20000"/>
                  </a:srgbClr>
                </a:solidFill>
              </a:rPr>
              <a:t>💾</a:t>
            </a:r>
            <a:endParaRPr lang="en-US" sz="2590" dirty="0"/>
          </a:p>
        </p:txBody>
      </p:sp>
      <p:sp>
        <p:nvSpPr>
          <p:cNvPr id="41" name="Text 38"/>
          <p:cNvSpPr/>
          <p:nvPr/>
        </p:nvSpPr>
        <p:spPr>
          <a:xfrm>
            <a:off x="6315075" y="2303859"/>
            <a:ext cx="789305" cy="15367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400" b="1" kern="0" spc="1" dirty="0">
                <a:solidFill>
                  <a:srgbClr val="0052CC"/>
                </a:solidFill>
              </a:rPr>
              <a:t>Data Layer</a:t>
            </a:r>
          </a:p>
        </p:txBody>
      </p:sp>
      <p:sp>
        <p:nvSpPr>
          <p:cNvPr id="42" name="Text 39"/>
          <p:cNvSpPr/>
          <p:nvPr/>
        </p:nvSpPr>
        <p:spPr>
          <a:xfrm>
            <a:off x="6315075" y="2578894"/>
            <a:ext cx="1455420" cy="14097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1200" i="1" dirty="0">
                <a:solidFill>
                  <a:srgbClr val="333333"/>
                </a:solidFill>
              </a:rPr>
              <a:t>Persistence and storage</a:t>
            </a:r>
          </a:p>
        </p:txBody>
      </p:sp>
      <p:sp>
        <p:nvSpPr>
          <p:cNvPr id="43" name="Text 40"/>
          <p:cNvSpPr/>
          <p:nvPr/>
        </p:nvSpPr>
        <p:spPr>
          <a:xfrm>
            <a:off x="6315075" y="2890345"/>
            <a:ext cx="654050" cy="11493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1200" b="1" kern="0" spc="1" dirty="0">
                <a:solidFill>
                  <a:srgbClr val="1A1A1A"/>
                </a:solidFill>
              </a:rPr>
              <a:t>Databases</a:t>
            </a:r>
          </a:p>
        </p:txBody>
      </p:sp>
      <p:sp>
        <p:nvSpPr>
          <p:cNvPr id="44" name="Text 41"/>
          <p:cNvSpPr/>
          <p:nvPr/>
        </p:nvSpPr>
        <p:spPr>
          <a:xfrm>
            <a:off x="6315075" y="3088584"/>
            <a:ext cx="1229360" cy="127635"/>
          </a:xfrm>
          <a:prstGeom prst="rect">
            <a:avLst/>
          </a:prstGeom>
          <a:noFill/>
        </p:spPr>
        <p:txBody>
          <a:bodyPr wrap="none" lIns="127508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1200" b="1" dirty="0">
                <a:solidFill>
                  <a:srgbClr val="1A1A1A"/>
                </a:solidFill>
              </a:rPr>
              <a:t>Azure Cosmos DB</a:t>
            </a:r>
          </a:p>
        </p:txBody>
      </p:sp>
      <p:sp>
        <p:nvSpPr>
          <p:cNvPr id="45" name="Text 42"/>
          <p:cNvSpPr/>
          <p:nvPr/>
        </p:nvSpPr>
        <p:spPr>
          <a:xfrm>
            <a:off x="6315075" y="3260034"/>
            <a:ext cx="1075055" cy="127635"/>
          </a:xfrm>
          <a:prstGeom prst="rect">
            <a:avLst/>
          </a:prstGeom>
          <a:noFill/>
        </p:spPr>
        <p:txBody>
          <a:bodyPr wrap="none" lIns="127508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1200" b="1" dirty="0">
                <a:solidFill>
                  <a:srgbClr val="1A1A1A"/>
                </a:solidFill>
              </a:rPr>
              <a:t>User schedules</a:t>
            </a:r>
          </a:p>
        </p:txBody>
      </p:sp>
      <p:sp>
        <p:nvSpPr>
          <p:cNvPr id="46" name="Text 43"/>
          <p:cNvSpPr/>
          <p:nvPr/>
        </p:nvSpPr>
        <p:spPr>
          <a:xfrm>
            <a:off x="6315075" y="3517209"/>
            <a:ext cx="484505" cy="11493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1200" b="1" kern="0" spc="1" dirty="0">
                <a:solidFill>
                  <a:srgbClr val="1A1A1A"/>
                </a:solidFill>
              </a:rPr>
              <a:t>Storage</a:t>
            </a:r>
          </a:p>
        </p:txBody>
      </p:sp>
      <p:sp>
        <p:nvSpPr>
          <p:cNvPr id="47" name="Text 44"/>
          <p:cNvSpPr/>
          <p:nvPr/>
        </p:nvSpPr>
        <p:spPr>
          <a:xfrm>
            <a:off x="6315075" y="3715448"/>
            <a:ext cx="1321435" cy="127635"/>
          </a:xfrm>
          <a:prstGeom prst="rect">
            <a:avLst/>
          </a:prstGeom>
          <a:noFill/>
        </p:spPr>
        <p:txBody>
          <a:bodyPr wrap="none" lIns="127508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1200" b="1" dirty="0">
                <a:solidFill>
                  <a:srgbClr val="1A1A1A"/>
                </a:solidFill>
              </a:rPr>
              <a:t>Azure Blob Storage</a:t>
            </a:r>
          </a:p>
        </p:txBody>
      </p:sp>
      <p:sp>
        <p:nvSpPr>
          <p:cNvPr id="48" name="Text 45"/>
          <p:cNvSpPr/>
          <p:nvPr/>
        </p:nvSpPr>
        <p:spPr>
          <a:xfrm>
            <a:off x="6315075" y="3886898"/>
            <a:ext cx="1128395" cy="127635"/>
          </a:xfrm>
          <a:prstGeom prst="rect">
            <a:avLst/>
          </a:prstGeom>
          <a:noFill/>
        </p:spPr>
        <p:txBody>
          <a:bodyPr wrap="none" lIns="127508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1200" b="1" dirty="0">
                <a:solidFill>
                  <a:srgbClr val="1A1A1A"/>
                </a:solidFill>
              </a:rPr>
              <a:t>Study resources</a:t>
            </a:r>
          </a:p>
        </p:txBody>
      </p:sp>
      <p:sp>
        <p:nvSpPr>
          <p:cNvPr id="49" name="Shape 46"/>
          <p:cNvSpPr/>
          <p:nvPr/>
        </p:nvSpPr>
        <p:spPr>
          <a:xfrm>
            <a:off x="428625" y="4515548"/>
            <a:ext cx="8286750" cy="350044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50" name="Shape 47"/>
          <p:cNvSpPr/>
          <p:nvPr/>
        </p:nvSpPr>
        <p:spPr>
          <a:xfrm>
            <a:off x="428625" y="4515548"/>
            <a:ext cx="8286750" cy="14288"/>
          </a:xfrm>
          <a:prstGeom prst="rect">
            <a:avLst/>
          </a:prstGeom>
          <a:solidFill>
            <a:srgbClr val="E0E0E0"/>
          </a:solidFill>
        </p:spPr>
        <p:txBody>
          <a:bodyPr/>
          <a:lstStyle/>
          <a:p>
            <a:endParaRPr lang="en-US"/>
          </a:p>
        </p:txBody>
      </p:sp>
      <p:sp>
        <p:nvSpPr>
          <p:cNvPr id="51" name="Text 48"/>
          <p:cNvSpPr/>
          <p:nvPr/>
        </p:nvSpPr>
        <p:spPr>
          <a:xfrm>
            <a:off x="6315075" y="3088584"/>
            <a:ext cx="53578" cy="12858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735" b="1" dirty="0">
                <a:solidFill>
                  <a:srgbClr val="0052CC"/>
                </a:solidFill>
              </a:rPr>
              <a:t>▸</a:t>
            </a:r>
            <a:endParaRPr lang="en-US" sz="735" dirty="0"/>
          </a:p>
        </p:txBody>
      </p:sp>
      <p:sp>
        <p:nvSpPr>
          <p:cNvPr id="52" name="Text 49"/>
          <p:cNvSpPr/>
          <p:nvPr/>
        </p:nvSpPr>
        <p:spPr>
          <a:xfrm>
            <a:off x="6315075" y="3260034"/>
            <a:ext cx="53578" cy="12858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735" b="1" dirty="0">
                <a:solidFill>
                  <a:srgbClr val="0052CC"/>
                </a:solidFill>
              </a:rPr>
              <a:t>▸</a:t>
            </a:r>
            <a:endParaRPr lang="en-US" sz="735" dirty="0"/>
          </a:p>
        </p:txBody>
      </p:sp>
      <p:sp>
        <p:nvSpPr>
          <p:cNvPr id="53" name="Text 50"/>
          <p:cNvSpPr/>
          <p:nvPr/>
        </p:nvSpPr>
        <p:spPr>
          <a:xfrm>
            <a:off x="6315075" y="3715448"/>
            <a:ext cx="53578" cy="12858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735" b="1" dirty="0">
                <a:solidFill>
                  <a:srgbClr val="0052CC"/>
                </a:solidFill>
              </a:rPr>
              <a:t>▸</a:t>
            </a:r>
            <a:endParaRPr lang="en-US" sz="735" dirty="0"/>
          </a:p>
        </p:txBody>
      </p:sp>
      <p:sp>
        <p:nvSpPr>
          <p:cNvPr id="54" name="Text 51"/>
          <p:cNvSpPr/>
          <p:nvPr/>
        </p:nvSpPr>
        <p:spPr>
          <a:xfrm>
            <a:off x="6315075" y="3886898"/>
            <a:ext cx="53578" cy="12858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735" b="1" dirty="0">
                <a:solidFill>
                  <a:srgbClr val="0052CC"/>
                </a:solidFill>
              </a:rPr>
              <a:t>▸</a:t>
            </a:r>
            <a:endParaRPr lang="en-US" sz="735" dirty="0"/>
          </a:p>
        </p:txBody>
      </p:sp>
      <p:sp>
        <p:nvSpPr>
          <p:cNvPr id="55" name="Text 52"/>
          <p:cNvSpPr/>
          <p:nvPr/>
        </p:nvSpPr>
        <p:spPr>
          <a:xfrm>
            <a:off x="1003940" y="4668245"/>
            <a:ext cx="1354455" cy="10223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800"/>
              </a:lnSpc>
              <a:buNone/>
            </a:pPr>
            <a:r>
              <a:rPr lang="en-US" b="1" kern="0" spc="1" dirty="0">
                <a:solidFill>
                  <a:srgbClr val="0052CC"/>
                </a:solidFill>
              </a:rPr>
              <a:t>User Requests</a:t>
            </a:r>
          </a:p>
        </p:txBody>
      </p:sp>
      <p:sp>
        <p:nvSpPr>
          <p:cNvPr id="56" name="Text 53"/>
          <p:cNvSpPr/>
          <p:nvPr/>
        </p:nvSpPr>
        <p:spPr>
          <a:xfrm>
            <a:off x="3040866" y="4601273"/>
            <a:ext cx="229870" cy="20510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2000" dirty="0">
                <a:solidFill>
                  <a:srgbClr val="0052CC"/>
                </a:solidFill>
              </a:rPr>
              <a:t>→</a:t>
            </a:r>
          </a:p>
        </p:txBody>
      </p:sp>
      <p:sp>
        <p:nvSpPr>
          <p:cNvPr id="57" name="Text 54"/>
          <p:cNvSpPr/>
          <p:nvPr/>
        </p:nvSpPr>
        <p:spPr>
          <a:xfrm>
            <a:off x="4068459" y="4668245"/>
            <a:ext cx="1007110" cy="10223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800"/>
              </a:lnSpc>
              <a:buNone/>
            </a:pPr>
            <a:r>
              <a:rPr lang="en-US" b="1" kern="0" spc="1" dirty="0">
                <a:solidFill>
                  <a:srgbClr val="0052CC"/>
                </a:solidFill>
              </a:rPr>
              <a:t>Processing</a:t>
            </a:r>
          </a:p>
        </p:txBody>
      </p:sp>
      <p:sp>
        <p:nvSpPr>
          <p:cNvPr id="58" name="Text 55"/>
          <p:cNvSpPr/>
          <p:nvPr/>
        </p:nvSpPr>
        <p:spPr>
          <a:xfrm>
            <a:off x="5931712" y="4601273"/>
            <a:ext cx="229870" cy="20510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2000" dirty="0">
                <a:solidFill>
                  <a:srgbClr val="0052CC"/>
                </a:solidFill>
              </a:rPr>
              <a:t>→</a:t>
            </a:r>
          </a:p>
        </p:txBody>
      </p:sp>
      <p:sp>
        <p:nvSpPr>
          <p:cNvPr id="59" name="Text 56"/>
          <p:cNvSpPr/>
          <p:nvPr/>
        </p:nvSpPr>
        <p:spPr>
          <a:xfrm>
            <a:off x="6670064" y="4668245"/>
            <a:ext cx="1585595" cy="10223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800"/>
              </a:lnSpc>
              <a:buNone/>
            </a:pPr>
            <a:r>
              <a:rPr lang="en-US" b="1" kern="0" spc="1" dirty="0">
                <a:solidFill>
                  <a:srgbClr val="0052CC"/>
                </a:solidFill>
              </a:rPr>
              <a:t>Data Persistence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6135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571500"/>
            <a:ext cx="8001000" cy="93225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5" b="1" dirty="0">
                <a:solidFill>
                  <a:srgbClr val="0052CC"/>
                </a:solidFill>
              </a:rPr>
              <a:t>Azure Services (I): Compute and Data Foundation</a:t>
            </a:r>
            <a:endParaRPr lang="en-US" sz="2435" dirty="0"/>
          </a:p>
        </p:txBody>
      </p:sp>
      <p:sp>
        <p:nvSpPr>
          <p:cNvPr id="4" name="Text 1"/>
          <p:cNvSpPr/>
          <p:nvPr/>
        </p:nvSpPr>
        <p:spPr>
          <a:xfrm>
            <a:off x="515229" y="1230489"/>
            <a:ext cx="1156342" cy="15606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200" b="1" kern="0" spc="1" dirty="0">
                <a:solidFill>
                  <a:srgbClr val="0052CC"/>
                </a:solidFill>
              </a:rPr>
              <a:t>Azure App Service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15229" y="1462661"/>
            <a:ext cx="2989152" cy="18203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400" b="1" dirty="0">
                <a:solidFill>
                  <a:srgbClr val="1A1A1A"/>
                </a:solidFill>
              </a:rPr>
              <a:t>Managed Platform for Web Applications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15229" y="1726980"/>
            <a:ext cx="3786188" cy="50013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100" dirty="0">
                <a:solidFill>
                  <a:srgbClr val="333333"/>
                </a:solidFill>
              </a:rPr>
              <a:t>Provides fully managed Platform-as-a-Service (PaaS) for hosting the Next.js application, ensuring high availability and automatic scaling based on demand.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15229" y="2294908"/>
            <a:ext cx="2827890" cy="153888"/>
          </a:xfrm>
          <a:prstGeom prst="rect">
            <a:avLst/>
          </a:prstGeom>
          <a:noFill/>
        </p:spPr>
        <p:txBody>
          <a:bodyPr wrap="none" lIns="170053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100" dirty="0">
                <a:solidFill>
                  <a:srgbClr val="333333"/>
                </a:solidFill>
              </a:rPr>
              <a:t>Production-ready hosting with built-in security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15229" y="2502077"/>
            <a:ext cx="2766976" cy="153888"/>
          </a:xfrm>
          <a:prstGeom prst="rect">
            <a:avLst/>
          </a:prstGeom>
          <a:noFill/>
        </p:spPr>
        <p:txBody>
          <a:bodyPr wrap="none" lIns="170053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100" dirty="0">
                <a:solidFill>
                  <a:srgbClr val="333333"/>
                </a:solidFill>
              </a:rPr>
              <a:t>Auto-scaling to handle 100+ concurrent users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15229" y="2709246"/>
            <a:ext cx="2348592" cy="153888"/>
          </a:xfrm>
          <a:prstGeom prst="rect">
            <a:avLst/>
          </a:prstGeom>
          <a:noFill/>
        </p:spPr>
        <p:txBody>
          <a:bodyPr wrap="none" lIns="170053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100" dirty="0">
                <a:solidFill>
                  <a:srgbClr val="333333"/>
                </a:solidFill>
              </a:rPr>
              <a:t>Integrated monitoring and diagnostics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15229" y="2294908"/>
            <a:ext cx="115416" cy="15388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100" b="1" dirty="0">
                <a:solidFill>
                  <a:srgbClr val="0052CC"/>
                </a:solidFill>
              </a:rPr>
              <a:t>▸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15229" y="2502077"/>
            <a:ext cx="115416" cy="15388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100" b="1" dirty="0">
                <a:solidFill>
                  <a:srgbClr val="0052CC"/>
                </a:solidFill>
              </a:rPr>
              <a:t>▸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15229" y="2709246"/>
            <a:ext cx="115416" cy="15388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100" b="1" dirty="0">
                <a:solidFill>
                  <a:srgbClr val="0052CC"/>
                </a:solidFill>
              </a:rPr>
              <a:t>▸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730042" y="1230489"/>
            <a:ext cx="1026243" cy="15606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200" b="1" kern="0" spc="1" dirty="0">
                <a:solidFill>
                  <a:srgbClr val="0052CC"/>
                </a:solidFill>
              </a:rPr>
              <a:t>Azure Functions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730042" y="1462661"/>
            <a:ext cx="2614434" cy="18203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400" b="1" dirty="0">
                <a:solidFill>
                  <a:srgbClr val="1A1A1A"/>
                </a:solidFill>
              </a:rPr>
              <a:t>Serverless Event-Driven Computing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4730042" y="1726980"/>
            <a:ext cx="3786188" cy="33342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100" dirty="0">
                <a:solidFill>
                  <a:srgbClr val="333333"/>
                </a:solidFill>
              </a:rPr>
              <a:t>Enables serverless, event-driven tasks such as sending automated daily study reminders via email, without managing infrastructure.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4730042" y="2134174"/>
            <a:ext cx="2747740" cy="153888"/>
          </a:xfrm>
          <a:prstGeom prst="rect">
            <a:avLst/>
          </a:prstGeom>
          <a:noFill/>
        </p:spPr>
        <p:txBody>
          <a:bodyPr wrap="none" lIns="170053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100" dirty="0">
                <a:solidFill>
                  <a:srgbClr val="333333"/>
                </a:solidFill>
              </a:rPr>
              <a:t>Time-triggered execution for scheduled tasks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4730042" y="2341343"/>
            <a:ext cx="2029595" cy="153888"/>
          </a:xfrm>
          <a:prstGeom prst="rect">
            <a:avLst/>
          </a:prstGeom>
          <a:noFill/>
        </p:spPr>
        <p:txBody>
          <a:bodyPr wrap="none" lIns="170053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100" dirty="0">
                <a:solidFill>
                  <a:srgbClr val="333333"/>
                </a:solidFill>
              </a:rPr>
              <a:t>Pay-per-execution pricing model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4730042" y="2548511"/>
            <a:ext cx="2843920" cy="153888"/>
          </a:xfrm>
          <a:prstGeom prst="rect">
            <a:avLst/>
          </a:prstGeom>
          <a:noFill/>
        </p:spPr>
        <p:txBody>
          <a:bodyPr wrap="none" lIns="170053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100" dirty="0">
                <a:solidFill>
                  <a:srgbClr val="333333"/>
                </a:solidFill>
              </a:rPr>
              <a:t>Seamless integration with other Azure services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4730042" y="2134174"/>
            <a:ext cx="115416" cy="15388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100" b="1" dirty="0">
                <a:solidFill>
                  <a:srgbClr val="0052CC"/>
                </a:solidFill>
              </a:rPr>
              <a:t>▸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4730042" y="2341343"/>
            <a:ext cx="115416" cy="15388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100" b="1" dirty="0">
                <a:solidFill>
                  <a:srgbClr val="0052CC"/>
                </a:solidFill>
              </a:rPr>
              <a:t>▸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4730042" y="2548511"/>
            <a:ext cx="115416" cy="15388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100" b="1" dirty="0">
                <a:solidFill>
                  <a:srgbClr val="0052CC"/>
                </a:solidFill>
              </a:rPr>
              <a:t>▸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515229" y="3030714"/>
            <a:ext cx="1120820" cy="15606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200" b="1" kern="0" spc="1" dirty="0">
                <a:solidFill>
                  <a:srgbClr val="0052CC"/>
                </a:solidFill>
              </a:rPr>
              <a:t>Azure Cosmos DB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515229" y="3262886"/>
            <a:ext cx="2767232" cy="18203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400" b="1" dirty="0">
                <a:solidFill>
                  <a:srgbClr val="1A1A1A"/>
                </a:solidFill>
              </a:rPr>
              <a:t>Globally Distributed NoSQL Database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515229" y="3527205"/>
            <a:ext cx="3786188" cy="50013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100" dirty="0">
                <a:solidFill>
                  <a:srgbClr val="333333"/>
                </a:solidFill>
              </a:rPr>
              <a:t>Chosen for its multi-model, globally distributed database capabilities, offering low-latency access to user schedules and tasks from anywhere in the world.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515229" y="4095133"/>
            <a:ext cx="2646750" cy="153888"/>
          </a:xfrm>
          <a:prstGeom prst="rect">
            <a:avLst/>
          </a:prstGeom>
          <a:noFill/>
        </p:spPr>
        <p:txBody>
          <a:bodyPr wrap="none" lIns="170053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100" dirty="0">
                <a:solidFill>
                  <a:srgbClr val="333333"/>
                </a:solidFill>
              </a:rPr>
              <a:t>Multi-region replication for high availability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515229" y="4302302"/>
            <a:ext cx="2520113" cy="153888"/>
          </a:xfrm>
          <a:prstGeom prst="rect">
            <a:avLst/>
          </a:prstGeom>
          <a:noFill/>
        </p:spPr>
        <p:txBody>
          <a:bodyPr wrap="none" lIns="170053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100" dirty="0">
                <a:solidFill>
                  <a:srgbClr val="333333"/>
                </a:solidFill>
              </a:rPr>
              <a:t>Flexible schema for evolving data models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537671" y="4524661"/>
            <a:ext cx="2326150" cy="153888"/>
          </a:xfrm>
          <a:prstGeom prst="rect">
            <a:avLst/>
          </a:prstGeom>
          <a:noFill/>
        </p:spPr>
        <p:txBody>
          <a:bodyPr wrap="none" lIns="170053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100" dirty="0">
                <a:solidFill>
                  <a:srgbClr val="333333"/>
                </a:solidFill>
              </a:rPr>
              <a:t>Guaranteed low-latency performance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515229" y="4095133"/>
            <a:ext cx="115416" cy="15388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100" b="1" dirty="0">
                <a:solidFill>
                  <a:srgbClr val="0052CC"/>
                </a:solidFill>
              </a:rPr>
              <a:t>▸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515229" y="4302302"/>
            <a:ext cx="115416" cy="15388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100" b="1" dirty="0">
                <a:solidFill>
                  <a:srgbClr val="0052CC"/>
                </a:solidFill>
              </a:rPr>
              <a:t>▸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571500" y="5011341"/>
            <a:ext cx="50006" cy="15001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685" b="1" dirty="0">
                <a:solidFill>
                  <a:srgbClr val="0052CC"/>
                </a:solidFill>
              </a:rPr>
              <a:t>▸</a:t>
            </a:r>
            <a:endParaRPr lang="en-US" sz="685" dirty="0"/>
          </a:p>
        </p:txBody>
      </p:sp>
      <p:sp>
        <p:nvSpPr>
          <p:cNvPr id="31" name="Text 28"/>
          <p:cNvSpPr/>
          <p:nvPr/>
        </p:nvSpPr>
        <p:spPr>
          <a:xfrm>
            <a:off x="4730042" y="3030714"/>
            <a:ext cx="1618776" cy="15606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200" b="1" kern="0" spc="1" dirty="0">
                <a:solidFill>
                  <a:srgbClr val="0052CC"/>
                </a:solidFill>
              </a:rPr>
              <a:t>Implementation Decision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4730042" y="3262886"/>
            <a:ext cx="2671885" cy="18203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400" b="1" dirty="0">
                <a:solidFill>
                  <a:srgbClr val="1A1A1A"/>
                </a:solidFill>
              </a:rPr>
              <a:t>Why Cosmos DB Over SQL Database</a:t>
            </a:r>
            <a:endParaRPr lang="en-US" sz="1400" dirty="0"/>
          </a:p>
        </p:txBody>
      </p:sp>
      <p:sp>
        <p:nvSpPr>
          <p:cNvPr id="33" name="Text 30"/>
          <p:cNvSpPr/>
          <p:nvPr/>
        </p:nvSpPr>
        <p:spPr>
          <a:xfrm>
            <a:off x="4730042" y="3527205"/>
            <a:ext cx="3786188" cy="66684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100" dirty="0">
                <a:solidFill>
                  <a:srgbClr val="333333"/>
                </a:solidFill>
              </a:rPr>
              <a:t>While the original proposal suggested Azure SQL Database, Cosmos DB was selected for flexibility and scalability, allowing the data model to evolve without complex migrations in a modern web app context.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22386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571500"/>
            <a:ext cx="8001000" cy="46613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5" b="1" dirty="0">
                <a:solidFill>
                  <a:srgbClr val="0052CC"/>
                </a:solidFill>
              </a:rPr>
              <a:t>Ensuring Data Integrity and Secure Access</a:t>
            </a:r>
            <a:endParaRPr lang="en-US" sz="2435" dirty="0"/>
          </a:p>
        </p:txBody>
      </p:sp>
      <p:sp>
        <p:nvSpPr>
          <p:cNvPr id="4" name="Text 1"/>
          <p:cNvSpPr/>
          <p:nvPr/>
        </p:nvSpPr>
        <p:spPr>
          <a:xfrm>
            <a:off x="571500" y="1151723"/>
            <a:ext cx="553037" cy="31669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3200" b="1" dirty="0">
                <a:solidFill>
                  <a:srgbClr val="0052CC"/>
                </a:solidFill>
              </a:rPr>
              <a:t>🔐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571500" y="1549987"/>
            <a:ext cx="1434688" cy="11246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1050" b="1" kern="0" spc="1" dirty="0">
                <a:solidFill>
                  <a:srgbClr val="0052CC"/>
                </a:solidFill>
              </a:rPr>
              <a:t>Authentication &amp; Identity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71500" y="1751798"/>
            <a:ext cx="1673535" cy="19236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400" b="1" dirty="0">
                <a:solidFill>
                  <a:srgbClr val="1A1A1A"/>
                </a:solidFill>
              </a:rPr>
              <a:t>Azure Active Directory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71500" y="2023260"/>
            <a:ext cx="3821906" cy="53097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00" dirty="0">
                <a:solidFill>
                  <a:srgbClr val="333333"/>
                </a:solidFill>
              </a:rPr>
              <a:t>Implemented via NextAuth.js for enterprise-grade identity management, providing secure single sign-on (SSO) authentication and role-based access control (RBAC) for user authorization.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750594" y="1151723"/>
            <a:ext cx="553037" cy="31669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3200" b="1" dirty="0">
                <a:solidFill>
                  <a:srgbClr val="0052CC"/>
                </a:solidFill>
              </a:rPr>
              <a:t>🔑</a:t>
            </a:r>
            <a:endParaRPr lang="en-US" sz="3200" dirty="0"/>
          </a:p>
        </p:txBody>
      </p:sp>
      <p:sp>
        <p:nvSpPr>
          <p:cNvPr id="9" name="Text 6"/>
          <p:cNvSpPr/>
          <p:nvPr/>
        </p:nvSpPr>
        <p:spPr>
          <a:xfrm>
            <a:off x="4750594" y="1549987"/>
            <a:ext cx="1183722" cy="11246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1050" b="1" kern="0" spc="1" dirty="0">
                <a:solidFill>
                  <a:srgbClr val="0052CC"/>
                </a:solidFill>
              </a:rPr>
              <a:t>Secrets Management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4750594" y="1751798"/>
            <a:ext cx="1832233" cy="19236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400" b="1" dirty="0">
                <a:solidFill>
                  <a:srgbClr val="1A1A1A"/>
                </a:solidFill>
              </a:rPr>
              <a:t>Environmental Variables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4750594" y="2023260"/>
            <a:ext cx="3821906" cy="53860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00" dirty="0">
                <a:solidFill>
                  <a:srgbClr val="333333"/>
                </a:solidFill>
              </a:rPr>
              <a:t>Essential for securely storing sensitive configuration data such as database connection strings, API keys, and credentials, preventing exposure in source code repositories.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71500" y="3066248"/>
            <a:ext cx="553037" cy="31669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3200" b="1" dirty="0">
                <a:solidFill>
                  <a:srgbClr val="0052CC"/>
                </a:solidFill>
              </a:rPr>
              <a:t>📦</a:t>
            </a:r>
            <a:endParaRPr lang="en-US" sz="3200" dirty="0"/>
          </a:p>
        </p:txBody>
      </p:sp>
      <p:sp>
        <p:nvSpPr>
          <p:cNvPr id="13" name="Text 10"/>
          <p:cNvSpPr/>
          <p:nvPr/>
        </p:nvSpPr>
        <p:spPr>
          <a:xfrm>
            <a:off x="571500" y="3464512"/>
            <a:ext cx="1498808" cy="11246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1050" b="1" kern="0" spc="1" dirty="0">
                <a:solidFill>
                  <a:srgbClr val="0052CC"/>
                </a:solidFill>
              </a:rPr>
              <a:t>Unstructured Data Storage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571500" y="3666323"/>
            <a:ext cx="1420261" cy="19236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400" b="1" dirty="0">
                <a:solidFill>
                  <a:srgbClr val="1A1A1A"/>
                </a:solidFill>
              </a:rPr>
              <a:t>Azure Blob Storage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571500" y="3937785"/>
            <a:ext cx="3821906" cy="53097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00" dirty="0">
                <a:solidFill>
                  <a:srgbClr val="333333"/>
                </a:solidFill>
              </a:rPr>
              <a:t>Utilized for cost-effective, massive-scale storage of unstructured data, specifically student-uploaded study resources including PDFs, notes, and images with secure access control.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4750594" y="3066248"/>
            <a:ext cx="553037" cy="31669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3200" b="1" dirty="0">
                <a:solidFill>
                  <a:srgbClr val="0052CC"/>
                </a:solidFill>
              </a:rPr>
              <a:t>📊</a:t>
            </a:r>
            <a:endParaRPr lang="en-US" sz="3200" dirty="0"/>
          </a:p>
        </p:txBody>
      </p:sp>
      <p:sp>
        <p:nvSpPr>
          <p:cNvPr id="17" name="Text 14"/>
          <p:cNvSpPr/>
          <p:nvPr/>
        </p:nvSpPr>
        <p:spPr>
          <a:xfrm>
            <a:off x="4750594" y="3464512"/>
            <a:ext cx="1537409" cy="11246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1050" b="1" kern="0" spc="1" dirty="0">
                <a:solidFill>
                  <a:srgbClr val="0052CC"/>
                </a:solidFill>
              </a:rPr>
              <a:t>Monitoring &amp; Observability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4750594" y="3666323"/>
            <a:ext cx="1872307" cy="19236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400" b="1" dirty="0">
                <a:solidFill>
                  <a:srgbClr val="1A1A1A"/>
                </a:solidFill>
              </a:rPr>
              <a:t>Azure Monitor &amp; Insights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4750594" y="3937785"/>
            <a:ext cx="3821906" cy="53860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00" dirty="0">
                <a:solidFill>
                  <a:srgbClr val="333333"/>
                </a:solidFill>
              </a:rPr>
              <a:t>Tracks application performance, errors, and user activity for proactive maintenance. Application Insights provides detailed telemetry for debugging and optimization.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1117829"/>
            <a:ext cx="3786188" cy="1170096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2120" b="1" dirty="0">
                <a:solidFill>
                  <a:srgbClr val="0052CC"/>
                </a:solidFill>
              </a:rPr>
              <a:t>Intuitive Schedule Management for Optimized Study Flow</a:t>
            </a:r>
            <a:endParaRPr lang="en-US" sz="2120" dirty="0"/>
          </a:p>
        </p:txBody>
      </p:sp>
      <p:sp>
        <p:nvSpPr>
          <p:cNvPr id="4" name="Text 1"/>
          <p:cNvSpPr/>
          <p:nvPr/>
        </p:nvSpPr>
        <p:spPr>
          <a:xfrm>
            <a:off x="553641" y="2326838"/>
            <a:ext cx="1230209" cy="12381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1100" b="1" kern="0" spc="1" dirty="0">
                <a:solidFill>
                  <a:srgbClr val="0052CC"/>
                </a:solidFill>
              </a:rPr>
              <a:t>Dashboard Overview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553641" y="2496503"/>
            <a:ext cx="3786188" cy="35907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200" dirty="0">
                <a:solidFill>
                  <a:srgbClr val="333333"/>
                </a:solidFill>
              </a:rPr>
              <a:t>Provides a quick, statistical summary of upcoming tasks, completed tasks, and total schedules at a glance.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53641" y="3010853"/>
            <a:ext cx="1021433" cy="12381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1100" b="1" kern="0" spc="1" dirty="0">
                <a:solidFill>
                  <a:srgbClr val="0052CC"/>
                </a:solidFill>
              </a:rPr>
              <a:t>CRUD Operations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53641" y="3180517"/>
            <a:ext cx="3786188" cy="35907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200" dirty="0">
                <a:solidFill>
                  <a:srgbClr val="333333"/>
                </a:solidFill>
              </a:rPr>
              <a:t>Full functionality to Create, Read, Update, and Delete personalized study schedules with ease.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53641" y="3694867"/>
            <a:ext cx="860748" cy="12381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1100" b="1" kern="0" spc="1" dirty="0">
                <a:solidFill>
                  <a:srgbClr val="0052CC"/>
                </a:solidFill>
              </a:rPr>
              <a:t>Modern UI/UX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53641" y="3864531"/>
            <a:ext cx="3786188" cy="35907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200" dirty="0">
                <a:solidFill>
                  <a:srgbClr val="333333"/>
                </a:solidFill>
              </a:rPr>
              <a:t>Clean, responsive design built with Next.js and Tailwind CSS, inspired by modern productivity tools like Notion and Linear.</a:t>
            </a:r>
            <a:endParaRPr lang="en-US" sz="12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3469" y="1357313"/>
            <a:ext cx="3571875" cy="2857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9679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428625"/>
            <a:ext cx="8286750" cy="42862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225" b="1" dirty="0">
                <a:solidFill>
                  <a:srgbClr val="0052CC"/>
                </a:solidFill>
              </a:rPr>
              <a:t>Centralized Resources and Enterprise-Grade Security</a:t>
            </a:r>
            <a:endParaRPr lang="en-US" sz="2225" dirty="0"/>
          </a:p>
        </p:txBody>
      </p:sp>
      <p:sp>
        <p:nvSpPr>
          <p:cNvPr id="4" name="Text 1"/>
          <p:cNvSpPr/>
          <p:nvPr/>
        </p:nvSpPr>
        <p:spPr>
          <a:xfrm>
            <a:off x="428625" y="1143000"/>
            <a:ext cx="949299" cy="12208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1050" b="1" kern="0" spc="1" dirty="0">
                <a:solidFill>
                  <a:srgbClr val="0052CC"/>
                </a:solidFill>
              </a:rPr>
              <a:t>Resource Upload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428625" y="1326952"/>
            <a:ext cx="2183675" cy="16671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200" b="1" dirty="0">
                <a:solidFill>
                  <a:srgbClr val="1A1A1A"/>
                </a:solidFill>
              </a:rPr>
              <a:t>Centralized Material Management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28625" y="1551254"/>
            <a:ext cx="4000500" cy="50013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100" dirty="0">
                <a:solidFill>
                  <a:srgbClr val="333333"/>
                </a:solidFill>
              </a:rPr>
              <a:t>Students can upload and associate study materials (PDFs, notes, images) directly with their schedules, stored securely in Azure Blob Storage for reliable, scalable access.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428625" y="2247770"/>
            <a:ext cx="777521" cy="12208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1050" b="1" kern="0" spc="1" dirty="0">
                <a:solidFill>
                  <a:srgbClr val="0052CC"/>
                </a:solidFill>
              </a:rPr>
              <a:t>Secure Access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428625" y="2431721"/>
            <a:ext cx="1350691" cy="16671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200" b="1" dirty="0">
                <a:solidFill>
                  <a:srgbClr val="1A1A1A"/>
                </a:solidFill>
              </a:rPr>
              <a:t>SAS Token Protection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28625" y="2656024"/>
            <a:ext cx="4000500" cy="50013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100" dirty="0">
                <a:solidFill>
                  <a:srgbClr val="333333"/>
                </a:solidFill>
              </a:rPr>
              <a:t>Resources are managed with secure access signatures (SAS) to ensure only authorized users can view or download their files, maintaining data privacy and integrity.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28625" y="3352540"/>
            <a:ext cx="840166" cy="12208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1050" b="1" kern="0" spc="1" dirty="0">
                <a:solidFill>
                  <a:srgbClr val="0052CC"/>
                </a:solidFill>
              </a:rPr>
              <a:t>Authentication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428625" y="3536491"/>
            <a:ext cx="1335943" cy="16671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200" b="1" dirty="0">
                <a:solidFill>
                  <a:srgbClr val="1A1A1A"/>
                </a:solidFill>
              </a:rPr>
              <a:t>Azure AD Integration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28625" y="3760794"/>
            <a:ext cx="4000500" cy="50013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100" dirty="0">
                <a:solidFill>
                  <a:srgbClr val="333333"/>
                </a:solidFill>
              </a:rPr>
              <a:t>The primary authentication method leverages Microsoft's identity platform, ensuring user data is protected by enterprise-grade security standards and single sign-on capabilities.</a:t>
            </a:r>
            <a:endParaRPr lang="en-US" sz="1100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14975" y="1143000"/>
            <a:ext cx="2400300" cy="1766153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514975" y="2985948"/>
            <a:ext cx="2400300" cy="12680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635" b="1" dirty="0">
                <a:solidFill>
                  <a:srgbClr val="333333"/>
                </a:solidFill>
              </a:rPr>
              <a:t>Azure AD Login Interface</a:t>
            </a:r>
            <a:endParaRPr lang="en-US" sz="635" dirty="0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14975" y="3227050"/>
            <a:ext cx="2400300" cy="1766153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514975" y="5069998"/>
            <a:ext cx="2400300" cy="12680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635" b="1" dirty="0">
                <a:solidFill>
                  <a:srgbClr val="333333"/>
                </a:solidFill>
              </a:rPr>
              <a:t>Resource Upload Interface</a:t>
            </a:r>
            <a:endParaRPr lang="en-US" sz="63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846" y="-305042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571500"/>
            <a:ext cx="8001000" cy="93225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5" b="1" dirty="0">
                <a:solidFill>
                  <a:srgbClr val="0052CC"/>
                </a:solidFill>
              </a:rPr>
              <a:t>Meeting Enterprise Standards: Scalability, Performance, and Availability</a:t>
            </a:r>
            <a:endParaRPr lang="en-US" sz="2435" dirty="0"/>
          </a:p>
        </p:txBody>
      </p:sp>
      <p:sp>
        <p:nvSpPr>
          <p:cNvPr id="4" name="Text 1"/>
          <p:cNvSpPr/>
          <p:nvPr/>
        </p:nvSpPr>
        <p:spPr>
          <a:xfrm>
            <a:off x="878561" y="1381674"/>
            <a:ext cx="570477" cy="12208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1050" b="1" kern="0" spc="1" dirty="0">
                <a:solidFill>
                  <a:srgbClr val="0052CC"/>
                </a:solidFill>
              </a:rPr>
              <a:t>Scalability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878561" y="1551338"/>
            <a:ext cx="620363" cy="31207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0052CC"/>
                </a:solidFill>
              </a:rPr>
              <a:t>100+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878561" y="1902805"/>
            <a:ext cx="1107676" cy="16671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200" b="1" dirty="0">
                <a:solidFill>
                  <a:srgbClr val="1A1A1A"/>
                </a:solidFill>
              </a:rPr>
              <a:t>Concurrent Users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878561" y="2112820"/>
            <a:ext cx="4004301" cy="15388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100" dirty="0">
                <a:solidFill>
                  <a:srgbClr val="333333"/>
                </a:solidFill>
              </a:rPr>
              <a:t>Auto-scale on Azure App Service handles peaks without slowing users.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957642" y="1381674"/>
            <a:ext cx="629916" cy="12208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1050" b="1" kern="0" spc="1" dirty="0">
                <a:solidFill>
                  <a:srgbClr val="0052CC"/>
                </a:solidFill>
              </a:rPr>
              <a:t>Availability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4957642" y="1551338"/>
            <a:ext cx="928139" cy="31207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0052CC"/>
                </a:solidFill>
              </a:rPr>
              <a:t>99.95%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4957642" y="1902805"/>
            <a:ext cx="1565365" cy="16671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200" b="1" dirty="0">
                <a:solidFill>
                  <a:srgbClr val="1A1A1A"/>
                </a:solidFill>
              </a:rPr>
              <a:t>Service Level Agreement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957642" y="2112820"/>
            <a:ext cx="3664744" cy="30995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100" dirty="0">
                <a:solidFill>
                  <a:srgbClr val="333333"/>
                </a:solidFill>
              </a:rPr>
              <a:t>Redundant Azure regions keep the application responsive and accessible.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878561" y="2580736"/>
            <a:ext cx="722762" cy="12208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1050" b="1" kern="0" spc="1" dirty="0">
                <a:solidFill>
                  <a:srgbClr val="0052CC"/>
                </a:solidFill>
              </a:rPr>
              <a:t>Performance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878561" y="2750400"/>
            <a:ext cx="1097095" cy="307777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0052CC"/>
                </a:solidFill>
              </a:rPr>
              <a:t>Optimized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878561" y="3101867"/>
            <a:ext cx="1880323" cy="16671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200" b="1" dirty="0">
                <a:solidFill>
                  <a:srgbClr val="1A1A1A"/>
                </a:solidFill>
              </a:rPr>
              <a:t>Next.js &amp; Low-Latency Access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878561" y="3311882"/>
            <a:ext cx="3664744" cy="30995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100" dirty="0">
                <a:solidFill>
                  <a:srgbClr val="333333"/>
                </a:solidFill>
              </a:rPr>
              <a:t>Next.js SSR/SSG and low-latency Cosmos DB ensure a fast, responsive user experience.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4957642" y="2580736"/>
            <a:ext cx="1023037" cy="12208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1050" b="1" kern="0" spc="1" dirty="0">
                <a:solidFill>
                  <a:srgbClr val="0052CC"/>
                </a:solidFill>
              </a:rPr>
              <a:t>Cost Management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4957642" y="2750400"/>
            <a:ext cx="876843" cy="307777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0052CC"/>
                </a:solidFill>
              </a:rPr>
              <a:t>Efficient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4957642" y="3101867"/>
            <a:ext cx="1450397" cy="16671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200" b="1" dirty="0">
                <a:solidFill>
                  <a:srgbClr val="1A1A1A"/>
                </a:solidFill>
              </a:rPr>
              <a:t>Resource Optimization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4957642" y="3311882"/>
            <a:ext cx="3664744" cy="30995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100" dirty="0">
                <a:solidFill>
                  <a:srgbClr val="333333"/>
                </a:solidFill>
              </a:rPr>
              <a:t>Right-size with scaling rules, leverage Blob Storage, and monitor with Azure Monitor.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621386" y="3872667"/>
            <a:ext cx="1566134" cy="14305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1100" b="1" dirty="0">
                <a:solidFill>
                  <a:srgbClr val="1A1A1A"/>
                </a:solidFill>
              </a:rPr>
              <a:t>Implementation Strategies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621386" y="4085193"/>
            <a:ext cx="705258" cy="12208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1050" b="1" kern="0" spc="1" dirty="0">
                <a:solidFill>
                  <a:srgbClr val="0052CC"/>
                </a:solidFill>
              </a:rPr>
              <a:t>Auto-Scaling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621386" y="4240570"/>
            <a:ext cx="2962349" cy="15388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100" dirty="0">
                <a:solidFill>
                  <a:srgbClr val="333333"/>
                </a:solidFill>
              </a:rPr>
              <a:t>Scale on CPU and memory to stay fast during peaks.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4686180" y="4085193"/>
            <a:ext cx="1066831" cy="12208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1050" b="1" kern="0" spc="1" dirty="0">
                <a:solidFill>
                  <a:srgbClr val="0052CC"/>
                </a:solidFill>
              </a:rPr>
              <a:t>Global Distribution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4686180" y="4240570"/>
            <a:ext cx="3516988" cy="15388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100" dirty="0">
                <a:solidFill>
                  <a:srgbClr val="333333"/>
                </a:solidFill>
              </a:rPr>
              <a:t>Cosmos DB multi-region replication keeps data close to users.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621386" y="4524534"/>
            <a:ext cx="1121333" cy="12208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1050" b="1" kern="0" spc="1" dirty="0">
                <a:solidFill>
                  <a:srgbClr val="0052CC"/>
                </a:solidFill>
              </a:rPr>
              <a:t>Monitoring &amp; Alerts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621386" y="4679910"/>
            <a:ext cx="3767057" cy="15388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100" dirty="0">
                <a:solidFill>
                  <a:srgbClr val="333333"/>
                </a:solidFill>
              </a:rPr>
              <a:t>Application Insights and Azure Monitor surface issues in real time.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4686180" y="4524534"/>
            <a:ext cx="838563" cy="12208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1050" b="1" kern="0" spc="1" dirty="0">
                <a:solidFill>
                  <a:srgbClr val="0052CC"/>
                </a:solidFill>
              </a:rPr>
              <a:t>Load Balancing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4686180" y="4679910"/>
            <a:ext cx="3106620" cy="15388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100" dirty="0">
                <a:solidFill>
                  <a:srgbClr val="333333"/>
                </a:solidFill>
              </a:rPr>
              <a:t>Built-in load balancing spreads traffic across instances.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693802"/>
            <a:ext cx="9144000" cy="560605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-38400"/>
            <a:ext cx="8001000" cy="93225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5" b="1" dirty="0">
                <a:solidFill>
                  <a:srgbClr val="0052CC"/>
                </a:solidFill>
              </a:rPr>
              <a:t>Modern Development Stack for a High-Performance Application</a:t>
            </a:r>
            <a:endParaRPr lang="en-US" sz="2435" dirty="0"/>
          </a:p>
        </p:txBody>
      </p:sp>
      <p:sp>
        <p:nvSpPr>
          <p:cNvPr id="4" name="Text 1"/>
          <p:cNvSpPr/>
          <p:nvPr/>
        </p:nvSpPr>
        <p:spPr>
          <a:xfrm>
            <a:off x="796643" y="936615"/>
            <a:ext cx="899990" cy="11541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800" b="1" kern="0" spc="1" dirty="0">
                <a:solidFill>
                  <a:srgbClr val="0052CC"/>
                </a:solidFill>
              </a:rPr>
              <a:t>Frontend Framework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796643" y="1106279"/>
            <a:ext cx="1349728" cy="17979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1A1A1A"/>
                </a:solidFill>
              </a:rPr>
              <a:t>Next.js 16 with React 19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796643" y="1334879"/>
            <a:ext cx="3564731" cy="53097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00" dirty="0">
                <a:solidFill>
                  <a:srgbClr val="333333"/>
                </a:solidFill>
              </a:rPr>
              <a:t>Next.js provides server-side rendering (SSR) and static site generation (SSG) capabilities, enhancing performance and enabling search engine optimization (SEO).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796643" y="1906379"/>
            <a:ext cx="3564731" cy="29976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00" i="1" dirty="0">
                <a:solidFill>
                  <a:srgbClr val="666666"/>
                </a:solidFill>
              </a:rPr>
              <a:t>Chosen for its production-ready features, built-in API routes, and seamless integration with modern React patterns for building scalable applications.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796643" y="2234992"/>
            <a:ext cx="2356927" cy="117020"/>
          </a:xfrm>
          <a:prstGeom prst="rect">
            <a:avLst/>
          </a:prstGeom>
          <a:noFill/>
        </p:spPr>
        <p:txBody>
          <a:bodyPr wrap="none" lIns="127508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900" dirty="0">
                <a:solidFill>
                  <a:srgbClr val="333333"/>
                </a:solidFill>
              </a:rPr>
              <a:t>React 19 for component-based UI development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796643" y="2399298"/>
            <a:ext cx="2470741" cy="117020"/>
          </a:xfrm>
          <a:prstGeom prst="rect">
            <a:avLst/>
          </a:prstGeom>
          <a:noFill/>
        </p:spPr>
        <p:txBody>
          <a:bodyPr wrap="none" lIns="127508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900" dirty="0">
                <a:solidFill>
                  <a:srgbClr val="333333"/>
                </a:solidFill>
              </a:rPr>
              <a:t>TypeScript for type-safe component development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96643" y="2234992"/>
            <a:ext cx="94578" cy="11612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900" b="1" dirty="0">
                <a:solidFill>
                  <a:srgbClr val="0052CC"/>
                </a:solidFill>
              </a:rPr>
              <a:t>▸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796643" y="2399298"/>
            <a:ext cx="94578" cy="11612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900" b="1" dirty="0">
                <a:solidFill>
                  <a:srgbClr val="0052CC"/>
                </a:solidFill>
              </a:rPr>
              <a:t>▸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4975737" y="936615"/>
            <a:ext cx="797270" cy="11541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800" b="1" kern="0" spc="1" dirty="0">
                <a:solidFill>
                  <a:srgbClr val="0052CC"/>
                </a:solidFill>
              </a:rPr>
              <a:t>Styling Framework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4975737" y="1106279"/>
            <a:ext cx="807913" cy="17979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1A1A1A"/>
                </a:solidFill>
              </a:rPr>
              <a:t>Tailwind CSS 4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4975737" y="1334879"/>
            <a:ext cx="3564731" cy="344646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00" dirty="0">
                <a:solidFill>
                  <a:srgbClr val="333333"/>
                </a:solidFill>
              </a:rPr>
              <a:t>Utility-first CSS framework enabling rapid, consistent styling without writing custom CSS, ensuring a cohesive design system across the application.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4975737" y="1906379"/>
            <a:ext cx="3564731" cy="29976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00" i="1" dirty="0">
                <a:solidFill>
                  <a:srgbClr val="666666"/>
                </a:solidFill>
              </a:rPr>
              <a:t>Provides a comprehensive set of pre-built utilities, reducing development time and ensuring design consistency with minimal CSS overhead.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4975737" y="2234992"/>
            <a:ext cx="2756076" cy="117020"/>
          </a:xfrm>
          <a:prstGeom prst="rect">
            <a:avLst/>
          </a:prstGeom>
          <a:noFill/>
        </p:spPr>
        <p:txBody>
          <a:bodyPr wrap="none" lIns="127508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900" dirty="0">
                <a:solidFill>
                  <a:srgbClr val="333333"/>
                </a:solidFill>
              </a:rPr>
              <a:t>Responsive design utilities for mobile-first development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4975737" y="2399298"/>
            <a:ext cx="2873094" cy="117020"/>
          </a:xfrm>
          <a:prstGeom prst="rect">
            <a:avLst/>
          </a:prstGeom>
          <a:noFill/>
        </p:spPr>
        <p:txBody>
          <a:bodyPr wrap="none" lIns="127508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900" dirty="0">
                <a:solidFill>
                  <a:srgbClr val="333333"/>
                </a:solidFill>
              </a:rPr>
              <a:t>Dark mode support and customizable theme configuration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4975737" y="2234992"/>
            <a:ext cx="94578" cy="11612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900" b="1" dirty="0">
                <a:solidFill>
                  <a:srgbClr val="0052CC"/>
                </a:solidFill>
              </a:rPr>
              <a:t>▸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4975737" y="2399298"/>
            <a:ext cx="94578" cy="11612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900" b="1" dirty="0">
                <a:solidFill>
                  <a:srgbClr val="0052CC"/>
                </a:solidFill>
              </a:rPr>
              <a:t>▸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796643" y="2649329"/>
            <a:ext cx="959815" cy="11541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800" b="1" kern="0" spc="1" dirty="0">
                <a:solidFill>
                  <a:srgbClr val="0052CC"/>
                </a:solidFill>
              </a:rPr>
              <a:t>Authentication Library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796643" y="2818994"/>
            <a:ext cx="660437" cy="17979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1A1A1A"/>
                </a:solidFill>
              </a:rPr>
              <a:t>NextAuth.js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796643" y="3047594"/>
            <a:ext cx="3564731" cy="344646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00" dirty="0">
                <a:solidFill>
                  <a:srgbClr val="333333"/>
                </a:solidFill>
              </a:rPr>
              <a:t>Flexible, secure authentication layer that abstracts the complexity of Azure AD integration, providing session management and user authorization.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796643" y="3619094"/>
            <a:ext cx="3564731" cy="30777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00" i="1" dirty="0">
                <a:solidFill>
                  <a:srgbClr val="666666"/>
                </a:solidFill>
              </a:rPr>
              <a:t>Simplifies OAuth/OIDC flows, supports multiple providers, and includes built-in security best practices for production applications.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4975737" y="2649329"/>
            <a:ext cx="1015919" cy="11541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800" b="1" kern="0" spc="1" dirty="0">
                <a:solidFill>
                  <a:srgbClr val="0052CC"/>
                </a:solidFill>
              </a:rPr>
              <a:t>Language &amp; Type Safety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4975737" y="2818994"/>
            <a:ext cx="591509" cy="17979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1A1A1A"/>
                </a:solidFill>
              </a:rPr>
              <a:t>TypeScript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4975737" y="3047594"/>
            <a:ext cx="3564731" cy="344646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00" dirty="0">
                <a:solidFill>
                  <a:srgbClr val="333333"/>
                </a:solidFill>
              </a:rPr>
              <a:t>Strongly typed superset of JavaScript, catching errors at compile-time rather than runtime, improving code quality and maintainability.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4975737" y="3447644"/>
            <a:ext cx="3564731" cy="29976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00" i="1" dirty="0">
                <a:solidFill>
                  <a:srgbClr val="666666"/>
                </a:solidFill>
              </a:rPr>
              <a:t>Reduces runtime errors, improves IDE support and code documentation, making the codebase more robust and easier to refactor.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796643" y="3976281"/>
            <a:ext cx="1181798" cy="11541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800" b="1" kern="0" spc="1" dirty="0">
                <a:solidFill>
                  <a:srgbClr val="0052CC"/>
                </a:solidFill>
              </a:rPr>
              <a:t>Additional Tools &amp; Libraries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796643" y="4145945"/>
            <a:ext cx="1380186" cy="17979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1A1A1A"/>
                </a:solidFill>
              </a:rPr>
              <a:t>Supporting Technologies</a:t>
            </a:r>
            <a:endParaRPr lang="en-US" sz="1050" dirty="0"/>
          </a:p>
        </p:txBody>
      </p:sp>
      <p:sp>
        <p:nvSpPr>
          <p:cNvPr id="30" name="Text 27"/>
          <p:cNvSpPr/>
          <p:nvPr/>
        </p:nvSpPr>
        <p:spPr>
          <a:xfrm>
            <a:off x="796643" y="4403120"/>
            <a:ext cx="3418115" cy="117020"/>
          </a:xfrm>
          <a:prstGeom prst="rect">
            <a:avLst/>
          </a:prstGeom>
          <a:noFill/>
        </p:spPr>
        <p:txBody>
          <a:bodyPr wrap="none" lIns="127508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900" dirty="0">
                <a:solidFill>
                  <a:srgbClr val="333333"/>
                </a:solidFill>
              </a:rPr>
              <a:t>Axios: HTTP client for API communication with Azure backend services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796643" y="4567426"/>
            <a:ext cx="3870162" cy="117020"/>
          </a:xfrm>
          <a:prstGeom prst="rect">
            <a:avLst/>
          </a:prstGeom>
          <a:noFill/>
        </p:spPr>
        <p:txBody>
          <a:bodyPr wrap="none" lIns="127508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900" dirty="0">
                <a:solidFill>
                  <a:srgbClr val="333333"/>
                </a:solidFill>
              </a:rPr>
              <a:t>React Hook Form: Lightweight form state management with minimal re-renders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796643" y="4731733"/>
            <a:ext cx="3570401" cy="117020"/>
          </a:xfrm>
          <a:prstGeom prst="rect">
            <a:avLst/>
          </a:prstGeom>
          <a:noFill/>
        </p:spPr>
        <p:txBody>
          <a:bodyPr wrap="none" lIns="127508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900" dirty="0">
                <a:solidFill>
                  <a:srgbClr val="333333"/>
                </a:solidFill>
              </a:rPr>
              <a:t>Zod: TypeScript-first schema validation for form inputs and API responses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796643" y="4403120"/>
            <a:ext cx="94578" cy="11612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900" b="1" dirty="0">
                <a:solidFill>
                  <a:srgbClr val="0052CC"/>
                </a:solidFill>
              </a:rPr>
              <a:t>▸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796643" y="4567426"/>
            <a:ext cx="94578" cy="11612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900" b="1" dirty="0">
                <a:solidFill>
                  <a:srgbClr val="0052CC"/>
                </a:solidFill>
              </a:rPr>
              <a:t>▸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796643" y="4731733"/>
            <a:ext cx="94578" cy="11612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900" b="1" dirty="0">
                <a:solidFill>
                  <a:srgbClr val="0052CC"/>
                </a:solidFill>
              </a:rPr>
              <a:t>▸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49845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571500"/>
            <a:ext cx="8001000" cy="93225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5" b="1" dirty="0">
                <a:solidFill>
                  <a:srgbClr val="0052CC"/>
                </a:solidFill>
              </a:rPr>
              <a:t>Summary of Achievements and Roadmap for Enhancement</a:t>
            </a:r>
            <a:endParaRPr lang="en-US" sz="2435" dirty="0"/>
          </a:p>
        </p:txBody>
      </p:sp>
      <p:sp>
        <p:nvSpPr>
          <p:cNvPr id="4" name="Text 1"/>
          <p:cNvSpPr/>
          <p:nvPr/>
        </p:nvSpPr>
        <p:spPr>
          <a:xfrm>
            <a:off x="571499" y="1205391"/>
            <a:ext cx="3786188" cy="321469"/>
          </a:xfrm>
          <a:prstGeom prst="rect">
            <a:avLst/>
          </a:prstGeom>
          <a:noFill/>
        </p:spPr>
        <p:txBody>
          <a:bodyPr wrap="square" lIns="0" tIns="0" rIns="0" bIns="136017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1A1A1A"/>
                </a:solidFill>
              </a:rPr>
              <a:t>✓ Key Achievements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71499" y="1612585"/>
            <a:ext cx="658514" cy="12041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1000" b="1" kern="0" spc="1" dirty="0">
                <a:solidFill>
                  <a:srgbClr val="0052CC"/>
                </a:solidFill>
              </a:rPr>
              <a:t>Deployment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571499" y="1796536"/>
            <a:ext cx="1561325" cy="15388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1A1A1A"/>
                </a:solidFill>
              </a:rPr>
              <a:t>Full-Stack Cloud Application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571499" y="2002254"/>
            <a:ext cx="3786188" cy="46166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050" dirty="0">
                <a:solidFill>
                  <a:srgbClr val="333333"/>
                </a:solidFill>
              </a:rPr>
              <a:t>Successfully deployed a production-ready, cloud-native study planner application on Microsoft Azure with modern frontend and scalable backend architecture.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571499" y="2509460"/>
            <a:ext cx="798745" cy="12041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1000" b="1" kern="0" spc="1" dirty="0">
                <a:solidFill>
                  <a:srgbClr val="0052CC"/>
                </a:solidFill>
              </a:rPr>
              <a:t>Technical Skills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71499" y="2693412"/>
            <a:ext cx="1407437" cy="15388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1A1A1A"/>
                </a:solidFill>
              </a:rPr>
              <a:t>Azure Service Integration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571499" y="2899129"/>
            <a:ext cx="3786188" cy="46166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050" dirty="0">
                <a:solidFill>
                  <a:srgbClr val="333333"/>
                </a:solidFill>
              </a:rPr>
              <a:t>Demonstrated practical proficiency in integrating multiple Azure services including App Service, Functions, Cosmos DB, Blob Storage, and Active Directory.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571499" y="3256317"/>
            <a:ext cx="661976" cy="12041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1000" b="1" kern="0" spc="1" dirty="0">
                <a:solidFill>
                  <a:srgbClr val="0052CC"/>
                </a:solidFill>
              </a:rPr>
              <a:t>Architecture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71499" y="3440268"/>
            <a:ext cx="1396216" cy="15388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1A1A1A"/>
                </a:solidFill>
              </a:rPr>
              <a:t>Scalable &amp; Secure Design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571499" y="3645986"/>
            <a:ext cx="3786188" cy="46166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050" dirty="0">
                <a:solidFill>
                  <a:srgbClr val="333333"/>
                </a:solidFill>
              </a:rPr>
              <a:t>Implemented a three-tiered architecture supporting 100+ concurrent users with enterprise-grade security, monitoring, and 99.95% availability SLA.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571499" y="4003174"/>
            <a:ext cx="737574" cy="12041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1000" b="1" kern="0" spc="1" dirty="0">
                <a:solidFill>
                  <a:srgbClr val="0052CC"/>
                </a:solidFill>
              </a:rPr>
              <a:t>Best Practices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571499" y="4187125"/>
            <a:ext cx="1537280" cy="15388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1A1A1A"/>
                </a:solidFill>
              </a:rPr>
              <a:t>Cloud Computing Principles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571499" y="4392843"/>
            <a:ext cx="3786188" cy="46166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050" dirty="0">
                <a:solidFill>
                  <a:srgbClr val="333333"/>
                </a:solidFill>
              </a:rPr>
              <a:t>Applied core cloud computing concepts including scalability, resilience, security, cost optimization, and infrastructure-as-code principles.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4786312" y="1205391"/>
            <a:ext cx="3786188" cy="321469"/>
          </a:xfrm>
          <a:prstGeom prst="rect">
            <a:avLst/>
          </a:prstGeom>
          <a:noFill/>
        </p:spPr>
        <p:txBody>
          <a:bodyPr wrap="square" lIns="0" tIns="0" rIns="0" bIns="136017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1A1A1A"/>
                </a:solidFill>
              </a:rPr>
              <a:t>→ Future Enhancements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4786312" y="1612585"/>
            <a:ext cx="923523" cy="12041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1000" b="1" kern="0" spc="1" dirty="0">
                <a:solidFill>
                  <a:srgbClr val="0052CC"/>
                </a:solidFill>
              </a:rPr>
              <a:t>API Management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4786312" y="1796536"/>
            <a:ext cx="1319272" cy="15388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1A1A1A"/>
                </a:solidFill>
              </a:rPr>
              <a:t>Azure API Management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4786312" y="2002254"/>
            <a:ext cx="3786188" cy="46166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050" dirty="0">
                <a:solidFill>
                  <a:srgbClr val="333333"/>
                </a:solidFill>
              </a:rPr>
              <a:t>Implement Azure API Management to secure, govern, and monitor backend API endpoints, enabling rate limiting, authentication policies, and API versioning.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4786312" y="2359441"/>
            <a:ext cx="873957" cy="12041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1000" b="1" kern="0" spc="1" dirty="0">
                <a:solidFill>
                  <a:srgbClr val="0052CC"/>
                </a:solidFill>
              </a:rPr>
              <a:t>DevOps Pipeline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4786312" y="2543393"/>
            <a:ext cx="1136530" cy="15388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1A1A1A"/>
                </a:solidFill>
              </a:rPr>
              <a:t>Azure DevOps CI/CD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4786312" y="2749111"/>
            <a:ext cx="3786188" cy="46166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050" dirty="0">
                <a:solidFill>
                  <a:srgbClr val="333333"/>
                </a:solidFill>
              </a:rPr>
              <a:t>Establish a complete Continuous Integration/Continuous Deployment (CI/CD) pipeline using Azure DevOps for automated testing, building, and deployment workflows.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4786312" y="3256317"/>
            <a:ext cx="1015278" cy="12041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1000" b="1" kern="0" spc="1" dirty="0">
                <a:solidFill>
                  <a:srgbClr val="0052CC"/>
                </a:solidFill>
              </a:rPr>
              <a:t>Advanced Features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4786312" y="3440268"/>
            <a:ext cx="1649491" cy="15388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1A1A1A"/>
                </a:solidFill>
              </a:rPr>
              <a:t>Machine Learning Integration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4786312" y="3645986"/>
            <a:ext cx="3786188" cy="46166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050" dirty="0">
                <a:solidFill>
                  <a:srgbClr val="333333"/>
                </a:solidFill>
              </a:rPr>
              <a:t>Explore Azure Machine Learning for intelligent study recommendations and predictive analytics based on user behavior and academic patterns.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4786312" y="4003174"/>
            <a:ext cx="737574" cy="12041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1000" b="1" kern="0" spc="1" dirty="0">
                <a:solidFill>
                  <a:srgbClr val="0052CC"/>
                </a:solidFill>
              </a:rPr>
              <a:t>Infrastructure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4786312" y="4187125"/>
            <a:ext cx="1239122" cy="15388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1A1A1A"/>
                </a:solidFill>
              </a:rPr>
              <a:t>Infrastructure as Code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4786312" y="4392843"/>
            <a:ext cx="3786188" cy="46166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050" dirty="0">
                <a:solidFill>
                  <a:srgbClr val="333333"/>
                </a:solidFill>
              </a:rPr>
              <a:t>Implement Infrastructure as Code (IaC) using Azure Resource Manager (ARM) templates or Terraform for reproducible, version-controlled infrastructure deployment.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2004185"/>
            <a:ext cx="2656359" cy="56577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4500"/>
              </a:lnSpc>
              <a:buNone/>
            </a:pPr>
            <a:r>
              <a:rPr lang="en-US" sz="3730" b="1" dirty="0">
                <a:solidFill>
                  <a:srgbClr val="0052CC"/>
                </a:solidFill>
              </a:rPr>
              <a:t>Thank You</a:t>
            </a:r>
            <a:endParaRPr lang="en-US" sz="3730" dirty="0"/>
          </a:p>
        </p:txBody>
      </p:sp>
      <p:sp>
        <p:nvSpPr>
          <p:cNvPr id="4" name="Text 1"/>
          <p:cNvSpPr/>
          <p:nvPr/>
        </p:nvSpPr>
        <p:spPr>
          <a:xfrm>
            <a:off x="571500" y="2712839"/>
            <a:ext cx="3247699" cy="22287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95" b="1" dirty="0">
                <a:solidFill>
                  <a:srgbClr val="1A1A1A"/>
                </a:solidFill>
              </a:rPr>
              <a:t>Personalized Study Planner on the Cloud</a:t>
            </a:r>
            <a:endParaRPr lang="en-US" sz="1195" dirty="0"/>
          </a:p>
        </p:txBody>
      </p:sp>
      <p:sp>
        <p:nvSpPr>
          <p:cNvPr id="5" name="Text 2"/>
          <p:cNvSpPr/>
          <p:nvPr/>
        </p:nvSpPr>
        <p:spPr>
          <a:xfrm>
            <a:off x="571500" y="3221468"/>
            <a:ext cx="1372437" cy="17502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i="1" dirty="0">
                <a:solidFill>
                  <a:srgbClr val="333333"/>
                </a:solidFill>
              </a:rPr>
              <a:t>Questions &amp; Discussion</a:t>
            </a:r>
            <a:endParaRPr lang="en-US" sz="885" dirty="0"/>
          </a:p>
        </p:txBody>
      </p:sp>
      <p:sp>
        <p:nvSpPr>
          <p:cNvPr id="6" name="Shape 3"/>
          <p:cNvSpPr/>
          <p:nvPr/>
        </p:nvSpPr>
        <p:spPr>
          <a:xfrm>
            <a:off x="4572000" y="617655"/>
            <a:ext cx="4572000" cy="3908189"/>
          </a:xfrm>
          <a:prstGeom prst="rect">
            <a:avLst/>
          </a:prstGeom>
          <a:solidFill>
            <a:srgbClr val="0052CC">
              <a:alpha val="500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4572000" y="617655"/>
            <a:ext cx="28575" cy="3908189"/>
          </a:xfrm>
          <a:prstGeom prst="rect">
            <a:avLst/>
          </a:prstGeom>
          <a:solidFill>
            <a:srgbClr val="0052CC"/>
          </a:solidFill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4857750" y="1046280"/>
            <a:ext cx="890372" cy="10740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900" b="1" kern="0" spc="1" dirty="0">
                <a:solidFill>
                  <a:srgbClr val="333333"/>
                </a:solidFill>
              </a:rPr>
              <a:t>Project Repository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4857750" y="1219516"/>
            <a:ext cx="2063065" cy="15889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0052CC"/>
                </a:solidFill>
              </a:rPr>
              <a:t>github.com/Murtaza445/studyplanner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4857750" y="1608851"/>
            <a:ext cx="502895" cy="10740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900" b="1" kern="0" spc="1" dirty="0">
                <a:solidFill>
                  <a:srgbClr val="333333"/>
                </a:solidFill>
              </a:rPr>
              <a:t>Live Demo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4857750" y="1782087"/>
            <a:ext cx="1681551" cy="15889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0052CC"/>
                </a:solidFill>
              </a:rPr>
              <a:t>studyplanner-umber.vercel.app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4857750" y="2171421"/>
            <a:ext cx="332592" cy="10740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900" b="1" kern="0" spc="1" dirty="0">
                <a:solidFill>
                  <a:srgbClr val="333333"/>
                </a:solidFill>
              </a:rPr>
              <a:t>Course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4857750" y="2344657"/>
            <a:ext cx="2213748" cy="15889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1A1A1A"/>
                </a:solidFill>
              </a:rPr>
              <a:t>CS4037: Introduction to Cloud Computing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4857750" y="2733991"/>
            <a:ext cx="756554" cy="10740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900" b="1" kern="0" spc="1" dirty="0">
                <a:solidFill>
                  <a:srgbClr val="333333"/>
                </a:solidFill>
              </a:rPr>
              <a:t>Team Members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4857750" y="2907227"/>
            <a:ext cx="2816176" cy="143879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400"/>
              </a:lnSpc>
            </a:pPr>
            <a:r>
              <a:rPr lang="en-US" sz="1000" dirty="0">
                <a:solidFill>
                  <a:srgbClr val="333333"/>
                </a:solidFill>
              </a:rPr>
              <a:t> Saad Ahmed (22K4345)
 Muhammad Huzaifa (22K4223)
 Muhammad Yousuf (22K4457)
 Murtaza Johar (22K4508)
 Haseeb Mujtaba (22K4307)
 Ali Raza Shaikh (22K4313)
 Hunain Memon (22K5014)</a:t>
            </a:r>
            <a:br>
              <a:rPr lang="en-US" sz="1000" dirty="0">
                <a:solidFill>
                  <a:srgbClr val="333333"/>
                </a:solidFill>
              </a:rPr>
            </a:br>
            <a:r>
              <a:rPr lang="en-US" sz="1000" dirty="0">
                <a:solidFill>
                  <a:srgbClr val="333333"/>
                </a:solidFill>
              </a:rPr>
              <a:t> </a:t>
            </a:r>
            <a:r>
              <a:rPr lang="en-US" altLang="en-GB" sz="1000" dirty="0">
                <a:solidFill>
                  <a:srgbClr val="333333"/>
                </a:solidFill>
              </a:rPr>
              <a:t>Ali Asif (21K-4570)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67.95456692913382,&quot;left&quot;:45,&quot;top&quot;:165.09377952755906,&quot;width&quot;:630.0000787401575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67.95456692913382,&quot;left&quot;:45,&quot;top&quot;:165.09377952755906,&quot;width&quot;:630.0000787401575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67.95456692913382,&quot;left&quot;:45,&quot;top&quot;:165.09377952755906,&quot;width&quot;:630.0000787401575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67.95456692913382,&quot;left&quot;:45,&quot;top&quot;:165.09377952755906,&quot;width&quot;:630.0000787401575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67.95456692913382,&quot;left&quot;:45,&quot;top&quot;:165.09377952755906,&quot;width&quot;:630.0000787401575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67.95456692913382,&quot;left&quot;:45,&quot;top&quot;:165.09377952755906,&quot;width&quot;:630.0000787401575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67.95456692913382,&quot;left&quot;:45,&quot;top&quot;:165.09377952755906,&quot;width&quot;:630.0000787401575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67.95456692913382,&quot;left&quot;:45,&quot;top&quot;:165.09377952755906,&quot;width&quot;:630.0000787401575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69.339527559055,&quot;left&quot;:45,&quot;top&quot;:126.25622047244096,&quot;width&quot;:630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69.339527559055,&quot;left&quot;:45,&quot;top&quot;:126.25622047244096,&quot;width&quot;:630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69.339527559055,&quot;left&quot;:45,&quot;top&quot;:126.25622047244096,&quot;width&quot;:630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69.339527559055,&quot;left&quot;:45,&quot;top&quot;:126.25622047244096,&quot;width&quot;:630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69.339527559055,&quot;left&quot;:45,&quot;top&quot;:126.25622047244096,&quot;width&quot;:630}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69.339527559055,&quot;left&quot;:45,&quot;top&quot;:126.25622047244096,&quot;width&quot;:630}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69.339527559055,&quot;left&quot;:45,&quot;top&quot;:126.25622047244096,&quot;width&quot;:630}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69.339527559055,&quot;left&quot;:45,&quot;top&quot;:126.25622047244096,&quot;width&quot;:630}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69.339527559055,&quot;left&quot;:45,&quot;top&quot;:126.25622047244096,&quot;width&quot;:630}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69.339527559055,&quot;left&quot;:45,&quot;top&quot;:126.25622047244096,&quot;width&quot;:630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1667</Words>
  <Application>Microsoft Office PowerPoint</Application>
  <PresentationFormat>On-screen Show (16:9)</PresentationFormat>
  <Paragraphs>251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4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T0555</cp:lastModifiedBy>
  <cp:revision>8</cp:revision>
  <dcterms:created xsi:type="dcterms:W3CDTF">2025-11-30T14:47:00Z</dcterms:created>
  <dcterms:modified xsi:type="dcterms:W3CDTF">2025-11-30T18:52:15Z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A0B4BAAFF4154D67925C5DB4274CC788_12</vt:lpwstr>
  </property>
  <property fmtid="{D5CDD505-2E9C-101B-9397-08002B2CF9AE}" pid="3" name="KSOProductBuildVer">
    <vt:lpwstr>2057-12.2.0.23155</vt:lpwstr>
  </property>
</Properties>
</file>